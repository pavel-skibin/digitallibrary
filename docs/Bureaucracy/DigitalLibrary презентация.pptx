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6" r:id="rId3"/>
    <p:sldId id="259" r:id="rId4"/>
    <p:sldId id="260" r:id="rId5"/>
    <p:sldId id="266" r:id="rId6"/>
    <p:sldId id="263" r:id="rId7"/>
    <p:sldId id="264" r:id="rId8"/>
    <p:sldId id="265" r:id="rId9"/>
    <p:sldId id="267" r:id="rId10"/>
    <p:sldId id="268" r:id="rId11"/>
    <p:sldId id="269" r:id="rId12"/>
    <p:sldId id="273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9504D-E0CC-4447-8168-B52BC3AF689A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1A729-1FF6-4EE6-AAAF-C4CBEA4C2C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721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4CA361-21D7-C88B-50CC-E2C210B81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BD43C9-A461-F468-AEFE-B9F95326C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410C5D-62B3-84AD-76A4-C1E666C1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90EC-668F-4B05-BF86-51870BE8B260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1ED662-3BAF-E97A-5542-D3C8D60C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B207C-5990-5830-1844-F967897AD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332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51855-E6FB-DC99-B384-99B5F110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A6E39C-D1FF-3250-E20B-39EA8BB89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E30D9C-A70A-EC7A-1D7D-1CB17870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F6E2E-0384-49D9-9608-FCFBAC74C482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E838B-D4F5-EB70-6E84-9A4F8FF9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D14F8A-8574-E6C7-1ABE-BB9BCEC72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136421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299F9-C850-E7B1-0DDC-28DBE855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A0D9C5-F308-7753-D549-D490DE669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8D603-9B13-BB30-AFED-D0E8D4E7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44E3-6736-4C2E-AAF3-2541E9268328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E4F0C-8E6E-98DE-9BD7-401ED4A13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5A588A-F9D2-82F2-5057-103EE1B9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638420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6F81A-F736-96B2-1D90-E71A4F86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39C61F-DBCD-4FC2-07C2-AB08CF545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BF74D5-24B1-D7A9-39CE-45C78641C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5AA144-2F87-44A5-44ED-A2713A3B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400-49DD-4233-A033-BA855C26AF38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8BE451-9D6E-CBB3-C3AA-22FAC30E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B771D1-9E4B-8A9D-D9E9-AB5D36F6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681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940AA-8DA1-A1AE-F69D-2F5F5B31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52DDEB-9917-FFDD-C8C2-80BBFC891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067921-1347-F66C-C697-4D39F2BBE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F4F32A-7E40-CD05-184F-DD074524A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A30295-A93C-622B-0B19-78CAA5976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8F700E5-DA2F-1818-82C9-7FAE285E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08411-7AC4-4E2F-8F7C-E9B03AA8E125}" type="datetime1">
              <a:rPr lang="ru-RU" smtClean="0"/>
              <a:t>03.06.2026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545D3DE-96F5-5342-985B-DD4C2FA4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140B28F-1D4A-D2A1-E5C4-C84B954E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202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26119-1DC6-BC51-A3CF-F6EB2C46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C5EB4D-6B6C-FA7B-0A84-39CA2FBE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2378-EB61-46FE-BE71-DEB87C8F8258}" type="datetime1">
              <a:rPr lang="ru-RU" smtClean="0"/>
              <a:t>03.06.2026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AA3EB9-D496-217A-4652-7BFC7AE4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DA1571-33C9-0D12-6576-68AAAFE3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7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0D1EA09-4155-8C69-C0B1-A8746965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C969-0DC6-4C2F-B41A-7D042CB2708B}" type="datetime1">
              <a:rPr lang="ru-RU" smtClean="0"/>
              <a:t>03.06.2026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100921-9CA9-1B3C-B22F-2F6C2E229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F9FEE0-4BFF-5A97-26A2-C9A8A5FD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46031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5A629-7D10-AC37-2EC5-9C05CEFD1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F57793-B7EF-FA82-CC1B-3EDC93495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94AF7A-260A-8033-C1E2-3FD9F42A9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640C9F-8197-FF8C-A6B3-7435B58A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DEBC9-9F4D-45D0-8DA8-155F968C8355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4660DD-0A48-2467-C0D6-EE902455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AAA615-8F8B-726A-626A-91A7EE5C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5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E313A-4A15-DE00-424A-B3B57E6E0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42F1863-9114-ACF6-3964-852ACABB9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D8956E-9A1F-8DE8-3254-2D43FFBD1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5985B4-5AA3-BEE4-1C9A-56216ECA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FA38-AC1F-49A2-97DF-E19B46B42460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5EF3A1-8DA8-65A3-2CE7-C153EA480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919114-50D3-AF2C-BADD-09964EC7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009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BDC-A01E-9821-7337-B3A49DCC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6A761A-1D30-E84B-9BCA-17CE9FF92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56A50B-975F-07C6-FCAF-717FA119A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A0A0A-09B9-4F2D-8DB2-A7D9B60D3A07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71E6B9-9B21-41E5-326A-C7AE6EC67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BC60FB-AB48-EFDD-6DE8-A59DD5D4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1100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9719EF-8A83-0045-2115-161308EE3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1CE58C-0F0D-702B-BAAC-0ED5498FC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94106-785D-2423-A13C-D2BD602D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3381-2413-46B3-A035-1CF5BC021519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D4429A-9D78-EA98-C361-3DFFC17D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1E3548-18BF-5B66-D5A4-F84879868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pPr/>
              <a:t>‹#›</a:t>
            </a:fld>
            <a:r>
              <a:rPr lang="en-US" dirty="0"/>
              <a:t>/16</a:t>
            </a:r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589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D91A3-C9E6-63ED-8221-22801271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4E76CF-DD9B-3B6B-7C4C-40A2EAC08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F660C-9113-BBB9-6154-D6BCBCADA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19A12-22AC-4BD5-A278-C9502D2F51B0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8E5EC6-A9DD-1737-1F20-07B6E3567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FEE1CD-EC4F-8BFA-2AC1-C7D4EFA4D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0A79C-2184-416A-91F7-4739A9175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79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552163"/>
          </a:xfrm>
          <a:prstGeom prst="rect">
            <a:avLst/>
          </a:prstGeom>
        </p:spPr>
        <p:txBody>
          <a:bodyPr vert="horz" wrap="square" lIns="0" tIns="446857" rIns="0" bIns="0" rtlCol="0" anchor="ctr">
            <a:spAutoFit/>
          </a:bodyPr>
          <a:lstStyle/>
          <a:p>
            <a:pPr marL="8467" marR="3387" indent="-423" algn="ctr">
              <a:lnSpc>
                <a:spcPct val="115199"/>
              </a:lnSpc>
              <a:spcBef>
                <a:spcPts val="67"/>
              </a:spcBef>
            </a:pPr>
            <a:r>
              <a:rPr sz="2133" spc="140" dirty="0">
                <a:latin typeface="Trebuchet MS"/>
                <a:cs typeface="Trebuchet MS"/>
              </a:rPr>
              <a:t>МИНОБРНАУКИ</a:t>
            </a:r>
            <a:r>
              <a:rPr sz="2133" spc="-73" dirty="0">
                <a:latin typeface="Trebuchet MS"/>
                <a:cs typeface="Trebuchet MS"/>
              </a:rPr>
              <a:t> </a:t>
            </a:r>
            <a:r>
              <a:rPr sz="2133" spc="133" dirty="0">
                <a:latin typeface="Trebuchet MS"/>
                <a:cs typeface="Trebuchet MS"/>
              </a:rPr>
              <a:t>РОССИИ</a:t>
            </a:r>
            <a:r>
              <a:rPr sz="2133" spc="-73" dirty="0">
                <a:latin typeface="Trebuchet MS"/>
                <a:cs typeface="Trebuchet MS"/>
              </a:rPr>
              <a:t> </a:t>
            </a:r>
            <a:r>
              <a:rPr sz="2133" spc="80" dirty="0">
                <a:latin typeface="Trebuchet MS"/>
                <a:cs typeface="Trebuchet MS"/>
              </a:rPr>
              <a:t>ФЕДЕРАЛЬНОЕ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76" dirty="0">
                <a:latin typeface="Trebuchet MS"/>
                <a:cs typeface="Trebuchet MS"/>
              </a:rPr>
              <a:t>ГОСУДАРСТВЕННОЕ</a:t>
            </a:r>
            <a:r>
              <a:rPr sz="2133" spc="-73" dirty="0">
                <a:latin typeface="Trebuchet MS"/>
                <a:cs typeface="Trebuchet MS"/>
              </a:rPr>
              <a:t> </a:t>
            </a:r>
            <a:r>
              <a:rPr sz="2133" spc="53" dirty="0">
                <a:latin typeface="Trebuchet MS"/>
                <a:cs typeface="Trebuchet MS"/>
              </a:rPr>
              <a:t>БЮДЖЕТНОЕ </a:t>
            </a:r>
            <a:r>
              <a:rPr sz="2133" spc="97" dirty="0">
                <a:latin typeface="Trebuchet MS"/>
                <a:cs typeface="Trebuchet MS"/>
              </a:rPr>
              <a:t>ОБРАЗОВАТЕЛЬНОЕ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63" dirty="0">
                <a:latin typeface="Trebuchet MS"/>
                <a:cs typeface="Trebuchet MS"/>
              </a:rPr>
              <a:t>УЧРЕЖДЕНИЕ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127" dirty="0">
                <a:latin typeface="Trebuchet MS"/>
                <a:cs typeface="Trebuchet MS"/>
              </a:rPr>
              <a:t>ВЫСШЕГО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130" dirty="0">
                <a:latin typeface="Trebuchet MS"/>
                <a:cs typeface="Trebuchet MS"/>
              </a:rPr>
              <a:t>ОБРАЗОВАНИЯ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83" dirty="0">
                <a:latin typeface="Trebuchet MS"/>
                <a:cs typeface="Trebuchet MS"/>
              </a:rPr>
              <a:t>«ВОРОНЕЖСКИЙ ГОСУДАРСТВЕННЫЙ</a:t>
            </a:r>
            <a:r>
              <a:rPr sz="2133" spc="-76" dirty="0">
                <a:latin typeface="Trebuchet MS"/>
                <a:cs typeface="Trebuchet MS"/>
              </a:rPr>
              <a:t> </a:t>
            </a:r>
            <a:r>
              <a:rPr sz="2133" spc="50" dirty="0">
                <a:latin typeface="Trebuchet MS"/>
                <a:cs typeface="Trebuchet MS"/>
              </a:rPr>
              <a:t>УНИВЕРСИТЕТ»</a:t>
            </a:r>
            <a:r>
              <a:rPr sz="2133" spc="-80" dirty="0">
                <a:latin typeface="Trebuchet MS"/>
                <a:cs typeface="Trebuchet MS"/>
              </a:rPr>
              <a:t> </a:t>
            </a:r>
            <a:r>
              <a:rPr sz="2133" spc="57" dirty="0">
                <a:latin typeface="Trebuchet MS"/>
                <a:cs typeface="Trebuchet MS"/>
              </a:rPr>
              <a:t>(ФГБОУ</a:t>
            </a:r>
            <a:r>
              <a:rPr sz="2133" spc="-76" dirty="0">
                <a:latin typeface="Trebuchet MS"/>
                <a:cs typeface="Trebuchet MS"/>
              </a:rPr>
              <a:t> </a:t>
            </a:r>
            <a:r>
              <a:rPr sz="2133" spc="190" dirty="0">
                <a:latin typeface="Trebuchet MS"/>
                <a:cs typeface="Trebuchet MS"/>
              </a:rPr>
              <a:t>ВО</a:t>
            </a:r>
            <a:r>
              <a:rPr sz="2133" spc="-76" dirty="0">
                <a:latin typeface="Trebuchet MS"/>
                <a:cs typeface="Trebuchet MS"/>
              </a:rPr>
              <a:t> </a:t>
            </a:r>
            <a:r>
              <a:rPr sz="2133" spc="-7" dirty="0">
                <a:latin typeface="Trebuchet MS"/>
                <a:cs typeface="Trebuchet MS"/>
              </a:rPr>
              <a:t>«ВГУ»)</a:t>
            </a:r>
            <a:endParaRPr sz="2133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1025" y="1850602"/>
            <a:ext cx="9624060" cy="3790995"/>
          </a:xfrm>
          <a:prstGeom prst="rect">
            <a:avLst/>
          </a:prstGeom>
        </p:spPr>
        <p:txBody>
          <a:bodyPr vert="horz" wrap="square" lIns="0" tIns="54187" rIns="0" bIns="0" rtlCol="0">
            <a:spAutoFit/>
          </a:bodyPr>
          <a:lstStyle/>
          <a:p>
            <a:pPr marR="1270064" algn="ctr">
              <a:spcBef>
                <a:spcPts val="427"/>
              </a:spcBef>
            </a:pPr>
            <a:r>
              <a:rPr sz="1867" spc="43" dirty="0">
                <a:latin typeface="Trebuchet MS"/>
                <a:cs typeface="Trebuchet MS"/>
              </a:rPr>
              <a:t>Факультет</a:t>
            </a:r>
            <a:r>
              <a:rPr sz="1867" spc="-67" dirty="0">
                <a:latin typeface="Trebuchet MS"/>
                <a:cs typeface="Trebuchet MS"/>
              </a:rPr>
              <a:t> </a:t>
            </a:r>
            <a:r>
              <a:rPr sz="1867" spc="90" dirty="0">
                <a:latin typeface="Trebuchet MS"/>
                <a:cs typeface="Trebuchet MS"/>
              </a:rPr>
              <a:t>компьютерных</a:t>
            </a:r>
            <a:r>
              <a:rPr sz="1867" spc="-67" dirty="0">
                <a:latin typeface="Trebuchet MS"/>
                <a:cs typeface="Trebuchet MS"/>
              </a:rPr>
              <a:t> </a:t>
            </a:r>
            <a:r>
              <a:rPr sz="1867" spc="37" dirty="0">
                <a:latin typeface="Trebuchet MS"/>
                <a:cs typeface="Trebuchet MS"/>
              </a:rPr>
              <a:t>наук</a:t>
            </a:r>
            <a:endParaRPr sz="1867" dirty="0">
              <a:latin typeface="Trebuchet MS"/>
              <a:cs typeface="Trebuchet MS"/>
            </a:endParaRPr>
          </a:p>
          <a:p>
            <a:pPr marR="1208253" algn="ctr">
              <a:spcBef>
                <a:spcPts val="360"/>
              </a:spcBef>
            </a:pPr>
            <a:r>
              <a:rPr sz="1867" dirty="0">
                <a:latin typeface="Trebuchet MS"/>
                <a:cs typeface="Trebuchet MS"/>
              </a:rPr>
              <a:t>Кафедра</a:t>
            </a:r>
            <a:r>
              <a:rPr sz="1867" spc="-43" dirty="0">
                <a:latin typeface="Trebuchet MS"/>
                <a:cs typeface="Trebuchet MS"/>
              </a:rPr>
              <a:t> </a:t>
            </a:r>
            <a:r>
              <a:rPr sz="1867" spc="87" dirty="0">
                <a:latin typeface="Trebuchet MS"/>
                <a:cs typeface="Trebuchet MS"/>
              </a:rPr>
              <a:t>программирования</a:t>
            </a:r>
            <a:r>
              <a:rPr sz="1867" spc="-43" dirty="0">
                <a:latin typeface="Trebuchet MS"/>
                <a:cs typeface="Trebuchet MS"/>
              </a:rPr>
              <a:t> </a:t>
            </a:r>
            <a:r>
              <a:rPr sz="1867" spc="107" dirty="0">
                <a:latin typeface="Trebuchet MS"/>
                <a:cs typeface="Trebuchet MS"/>
              </a:rPr>
              <a:t>и</a:t>
            </a:r>
            <a:r>
              <a:rPr sz="1867" spc="-40" dirty="0">
                <a:latin typeface="Trebuchet MS"/>
                <a:cs typeface="Trebuchet MS"/>
              </a:rPr>
              <a:t> </a:t>
            </a:r>
            <a:r>
              <a:rPr sz="1867" spc="90" dirty="0">
                <a:latin typeface="Trebuchet MS"/>
                <a:cs typeface="Trebuchet MS"/>
              </a:rPr>
              <a:t>информационных</a:t>
            </a:r>
            <a:r>
              <a:rPr sz="1867" spc="-43" dirty="0">
                <a:latin typeface="Trebuchet MS"/>
                <a:cs typeface="Trebuchet MS"/>
              </a:rPr>
              <a:t> </a:t>
            </a:r>
            <a:r>
              <a:rPr sz="1867" spc="53" dirty="0">
                <a:latin typeface="Trebuchet MS"/>
                <a:cs typeface="Trebuchet MS"/>
              </a:rPr>
              <a:t>технологий</a:t>
            </a:r>
            <a:endParaRPr sz="1867" dirty="0">
              <a:latin typeface="Trebuchet MS"/>
              <a:cs typeface="Trebuchet MS"/>
            </a:endParaRPr>
          </a:p>
          <a:p>
            <a:pPr>
              <a:spcBef>
                <a:spcPts val="1390"/>
              </a:spcBef>
            </a:pPr>
            <a:endParaRPr lang="ru-RU" sz="1867" dirty="0">
              <a:latin typeface="Trebuchet MS"/>
              <a:cs typeface="Trebuchet MS"/>
            </a:endParaRPr>
          </a:p>
          <a:p>
            <a:pPr algn="ctr">
              <a:spcBef>
                <a:spcPts val="607"/>
              </a:spcBef>
            </a:pP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Разработка</a:t>
            </a:r>
            <a:r>
              <a:rPr lang="ru-RU" sz="2800" b="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микросервисной</a:t>
            </a:r>
            <a:r>
              <a:rPr lang="ru-RU" sz="2800" b="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платформы</a:t>
            </a:r>
            <a:r>
              <a:rPr lang="ru-RU" sz="2800" b="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spc="-10" dirty="0">
                <a:solidFill>
                  <a:srgbClr val="000000"/>
                </a:solidFill>
                <a:latin typeface="Calibri"/>
                <a:cs typeface="Calibri"/>
              </a:rPr>
              <a:t>цифровой </a:t>
            </a: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библиотеки</a:t>
            </a:r>
            <a:r>
              <a:rPr lang="ru-RU" sz="2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с</a:t>
            </a:r>
            <a:r>
              <a:rPr lang="ru-RU" sz="2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spc="-25" dirty="0">
                <a:solidFill>
                  <a:srgbClr val="000000"/>
                </a:solidFill>
                <a:latin typeface="Calibri"/>
                <a:cs typeface="Calibri"/>
              </a:rPr>
              <a:t>ИИ-</a:t>
            </a:r>
            <a:r>
              <a:rPr lang="ru-RU" sz="2800" b="0" spc="-10" dirty="0">
                <a:solidFill>
                  <a:srgbClr val="000000"/>
                </a:solidFill>
                <a:latin typeface="Calibri"/>
                <a:cs typeface="Calibri"/>
              </a:rPr>
              <a:t>ассистентом</a:t>
            </a:r>
          </a:p>
          <a:p>
            <a:pPr algn="ctr">
              <a:spcBef>
                <a:spcPts val="607"/>
              </a:spcBef>
            </a:pPr>
            <a:endParaRPr lang="ru-RU" sz="2800" dirty="0">
              <a:latin typeface="Trebuchet MS"/>
              <a:cs typeface="Trebuchet MS"/>
            </a:endParaRPr>
          </a:p>
          <a:p>
            <a:pPr algn="ctr">
              <a:spcBef>
                <a:spcPts val="607"/>
              </a:spcBef>
            </a:pPr>
            <a:endParaRPr sz="2800" dirty="0">
              <a:latin typeface="Trebuchet MS"/>
              <a:cs typeface="Trebuchet MS"/>
            </a:endParaRPr>
          </a:p>
          <a:p>
            <a:pPr marL="5034108" marR="3387">
              <a:lnSpc>
                <a:spcPct val="116700"/>
              </a:lnSpc>
            </a:pPr>
            <a:r>
              <a:rPr sz="2000" spc="113" dirty="0">
                <a:latin typeface="Trebuchet MS"/>
                <a:cs typeface="Trebuchet MS"/>
              </a:rPr>
              <a:t>Научный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40" dirty="0">
                <a:latin typeface="Trebuchet MS"/>
                <a:cs typeface="Trebuchet MS"/>
              </a:rPr>
              <a:t>руководитель:</a:t>
            </a:r>
            <a:r>
              <a:rPr sz="2000" spc="-67" dirty="0">
                <a:latin typeface="Trebuchet MS"/>
                <a:cs typeface="Trebuchet MS"/>
              </a:rPr>
              <a:t> </a:t>
            </a:r>
            <a:r>
              <a:rPr lang="ru-RU" sz="2000" spc="100" dirty="0">
                <a:latin typeface="Trebuchet MS"/>
                <a:cs typeface="Trebuchet MS"/>
              </a:rPr>
              <a:t>Ушаков</a:t>
            </a:r>
            <a:r>
              <a:rPr lang="ru-RU" sz="2000" spc="-70" dirty="0">
                <a:latin typeface="Trebuchet MS"/>
                <a:cs typeface="Trebuchet MS"/>
              </a:rPr>
              <a:t> </a:t>
            </a:r>
            <a:r>
              <a:rPr lang="ru-RU" sz="2000" spc="-13" dirty="0">
                <a:latin typeface="Trebuchet MS"/>
                <a:cs typeface="Trebuchet MS"/>
              </a:rPr>
              <a:t>В.А. </a:t>
            </a:r>
            <a:r>
              <a:rPr sz="2000" spc="73" dirty="0" err="1">
                <a:latin typeface="Trebuchet MS"/>
                <a:cs typeface="Trebuchet MS"/>
              </a:rPr>
              <a:t>Выполнил</a:t>
            </a:r>
            <a:r>
              <a:rPr lang="ru-RU" sz="2000" spc="73" dirty="0">
                <a:latin typeface="Trebuchet MS"/>
                <a:cs typeface="Trebuchet MS"/>
              </a:rPr>
              <a:t>:Скибин П.С.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EE678-DD48-B1C0-1E42-D7E3105CE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746251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Arial Black" panose="020B0A04020102020204" pitchFamily="34" charset="0"/>
              </a:rPr>
              <a:t>Актуальность</a:t>
            </a:r>
            <a:br>
              <a:rPr lang="ru-RU" sz="4800" b="1" dirty="0"/>
            </a:br>
            <a:endParaRPr lang="ru-RU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2A690-6EE1-6D02-0E43-E7D770EDD004}"/>
              </a:ext>
            </a:extLst>
          </p:cNvPr>
          <p:cNvSpPr txBox="1"/>
          <p:nvPr/>
        </p:nvSpPr>
        <p:spPr>
          <a:xfrm>
            <a:off x="552450" y="1492240"/>
            <a:ext cx="106235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Традиционные библиотечные каталоги ограничены: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Только поиск по метаданным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Отсутствие персонализации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Нет диалогового взаимодействия</a:t>
            </a:r>
          </a:p>
          <a:p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Растущий спрос на интеллектуальные системы: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Пользователи хотят общаться с контентом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Необходимы персональные рекомендации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Требуется семантический поиск по содержанию</a:t>
            </a:r>
          </a:p>
          <a:p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FA41EE-408E-F7C2-02F1-EE79BAE0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23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347-1E04-A87C-D884-00F205A7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20FAD-D0F2-FAB2-F9AF-DA1B19EB9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746251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Arial Black" panose="020B0A04020102020204" pitchFamily="34" charset="0"/>
              </a:rPr>
              <a:t>Цель работы</a:t>
            </a:r>
            <a:br>
              <a:rPr lang="ru-RU" sz="4800" b="1" dirty="0"/>
            </a:br>
            <a:endParaRPr lang="ru-RU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ED09B-37C7-246A-6117-EDFBCD9C02CC}"/>
              </a:ext>
            </a:extLst>
          </p:cNvPr>
          <p:cNvSpPr txBox="1"/>
          <p:nvPr/>
        </p:nvSpPr>
        <p:spPr>
          <a:xfrm>
            <a:off x="552450" y="1492240"/>
            <a:ext cx="106235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Разработка микросервисной платформы Digital Library, 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объединяющей:</a:t>
            </a:r>
          </a:p>
          <a:p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📚 Каталог книг с поиском и фильтрацией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📖 Встроенную читалку FB2 с сохранением позиции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💬 Социальный контур (оценки, комментарии, закладки)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🤖 AI-ассистент для диалога по содержанию книг</a:t>
            </a: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Персональные рекомендации на основе истории</a:t>
            </a:r>
          </a:p>
          <a:p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BBCCBC-ACF0-7BB4-3818-2ED15447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602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3288-DA3D-9F8C-AD03-0D9673EB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942C5-D2C9-A76E-8006-281829677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746251"/>
          </a:xfrm>
        </p:spPr>
        <p:txBody>
          <a:bodyPr>
            <a:normAutofit/>
          </a:bodyPr>
          <a:lstStyle/>
          <a:p>
            <a:r>
              <a:rPr lang="ru-RU" sz="4800" b="1" dirty="0"/>
              <a:t>Обзор аналогов</a:t>
            </a:r>
            <a:br>
              <a:rPr lang="ru-RU" sz="4800" b="1" dirty="0"/>
            </a:br>
            <a:endParaRPr lang="ru-RU" sz="4800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02BBA395-E537-6214-0D96-E6A1396EE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009195"/>
              </p:ext>
            </p:extLst>
          </p:nvPr>
        </p:nvGraphicFramePr>
        <p:xfrm>
          <a:off x="492190" y="1126884"/>
          <a:ext cx="10667997" cy="46702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2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5093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Критерий</a:t>
                      </a:r>
                      <a:endParaRPr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1E395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ЛитРес</a:t>
                      </a:r>
                      <a:endParaRPr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1E395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Bookmate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1E395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Goodreads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1E395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MyBook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1E39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2400" b="1" spc="-6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Library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065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Каталог</a:t>
                      </a:r>
                      <a:r>
                        <a:rPr sz="2400" spc="-4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spc="-2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книг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00D2A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E6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093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Встроенное</a:t>
                      </a:r>
                      <a:r>
                        <a:rPr sz="2400" spc="-45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чтение</a:t>
                      </a:r>
                      <a:r>
                        <a:rPr sz="2400" spc="-35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</a:t>
                      </a:r>
                      <a:r>
                        <a:rPr sz="2400" spc="-3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spc="-25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веб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50" dirty="0">
                          <a:solidFill>
                            <a:srgbClr val="9977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00D2A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E6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Сохранение</a:t>
                      </a:r>
                      <a:r>
                        <a:rPr sz="2400" spc="-65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позиции</a:t>
                      </a:r>
                      <a:endParaRPr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0" dirty="0">
                          <a:solidFill>
                            <a:srgbClr val="CC4444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00D2A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E6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093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ru-RU"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Система о</a:t>
                      </a:r>
                      <a:r>
                        <a:rPr sz="2400" spc="-10" dirty="0" err="1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цен</a:t>
                      </a:r>
                      <a:r>
                        <a:rPr lang="ru-RU"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</a:t>
                      </a:r>
                      <a:r>
                        <a:rPr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</a:t>
                      </a:r>
                      <a:endParaRPr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00D2A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E6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Рекомендации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1E39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00D2A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E6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AI-</a:t>
                      </a:r>
                      <a:r>
                        <a:rPr sz="240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чат</a:t>
                      </a:r>
                      <a:r>
                        <a:rPr sz="2400" spc="-15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</a:t>
                      </a:r>
                      <a:r>
                        <a:rPr sz="2400" spc="-15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содержанию</a:t>
                      </a:r>
                      <a:r>
                        <a:rPr sz="2400" spc="-2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книги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0" dirty="0">
                          <a:solidFill>
                            <a:srgbClr val="CC4444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0" dirty="0">
                          <a:solidFill>
                            <a:srgbClr val="CC4444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0" dirty="0">
                          <a:solidFill>
                            <a:srgbClr val="CC4444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0" dirty="0">
                          <a:solidFill>
                            <a:srgbClr val="CC4444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00D2A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E6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Семантический</a:t>
                      </a:r>
                      <a:r>
                        <a:rPr sz="2400" spc="45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2400" spc="-10" dirty="0">
                          <a:solidFill>
                            <a:srgbClr val="0D172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поиск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50" dirty="0">
                          <a:solidFill>
                            <a:srgbClr val="9977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50" dirty="0">
                          <a:solidFill>
                            <a:srgbClr val="9977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0" dirty="0">
                          <a:solidFill>
                            <a:srgbClr val="CC4444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50" dirty="0">
                          <a:solidFill>
                            <a:srgbClr val="9977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</a:t>
                      </a:r>
                      <a:endParaRPr sz="2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333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65" dirty="0">
                          <a:solidFill>
                            <a:srgbClr val="00D2A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  <a:endParaRPr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51647" marB="0">
                    <a:lnL w="6350">
                      <a:solidFill>
                        <a:srgbClr val="CBD3DF"/>
                      </a:solidFill>
                      <a:prstDash val="solid"/>
                    </a:lnL>
                    <a:lnR w="6350">
                      <a:solidFill>
                        <a:srgbClr val="CBD3DF"/>
                      </a:solidFill>
                      <a:prstDash val="solid"/>
                    </a:lnR>
                    <a:lnT w="6350">
                      <a:solidFill>
                        <a:srgbClr val="CBD3DF"/>
                      </a:solidFill>
                      <a:prstDash val="solid"/>
                    </a:lnT>
                    <a:lnB w="6350">
                      <a:solidFill>
                        <a:srgbClr val="CBD3DF"/>
                      </a:solidFill>
                      <a:prstDash val="solid"/>
                    </a:lnB>
                    <a:solidFill>
                      <a:srgbClr val="E6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82CB377E-8055-9D8E-18DF-6A2BAC6CF5C7}"/>
              </a:ext>
            </a:extLst>
          </p:cNvPr>
          <p:cNvSpPr txBox="1"/>
          <p:nvPr/>
        </p:nvSpPr>
        <p:spPr>
          <a:xfrm>
            <a:off x="492190" y="6131356"/>
            <a:ext cx="57006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77698" indent="-260767">
              <a:spcBef>
                <a:spcPts val="133"/>
              </a:spcBef>
              <a:buClr>
                <a:srgbClr val="00B050"/>
              </a:buClr>
              <a:buSzPct val="94444"/>
              <a:buFont typeface="Segoe UI Symbol"/>
              <a:buChar char="✓"/>
              <a:tabLst>
                <a:tab pos="277698" algn="l"/>
              </a:tabLst>
            </a:pPr>
            <a:r>
              <a:rPr sz="2400" dirty="0">
                <a:solidFill>
                  <a:srgbClr val="64728B"/>
                </a:solidFill>
                <a:latin typeface="Calibri"/>
                <a:cs typeface="Calibri"/>
              </a:rPr>
              <a:t>реализовано</a:t>
            </a:r>
            <a:r>
              <a:rPr sz="2400" spc="213" dirty="0">
                <a:solidFill>
                  <a:srgbClr val="64728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4728B"/>
                </a:solidFill>
                <a:latin typeface="Calibri"/>
                <a:cs typeface="Calibri"/>
              </a:rPr>
              <a:t>·</a:t>
            </a:r>
            <a:r>
              <a:rPr sz="2400" spc="240" dirty="0">
                <a:solidFill>
                  <a:srgbClr val="64728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38A53"/>
                </a:solidFill>
                <a:latin typeface="Calibri"/>
                <a:cs typeface="Calibri"/>
              </a:rPr>
              <a:t>~</a:t>
            </a:r>
            <a:r>
              <a:rPr sz="2400" spc="-40" dirty="0">
                <a:solidFill>
                  <a:srgbClr val="938A5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4728B"/>
                </a:solidFill>
                <a:latin typeface="Calibri"/>
                <a:cs typeface="Calibri"/>
              </a:rPr>
              <a:t>частично</a:t>
            </a:r>
            <a:r>
              <a:rPr sz="2400" spc="227" dirty="0">
                <a:solidFill>
                  <a:srgbClr val="64728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4728B"/>
                </a:solidFill>
                <a:latin typeface="Calibri"/>
                <a:cs typeface="Calibri"/>
              </a:rPr>
              <a:t>·</a:t>
            </a:r>
            <a:r>
              <a:rPr sz="2400" spc="233" dirty="0">
                <a:solidFill>
                  <a:srgbClr val="64728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Segoe UI Symbol"/>
                <a:cs typeface="Segoe UI Symbol"/>
              </a:rPr>
              <a:t>✗</a:t>
            </a:r>
            <a:r>
              <a:rPr sz="2400" spc="-147" dirty="0">
                <a:solidFill>
                  <a:srgbClr val="FF0000"/>
                </a:solidFill>
                <a:latin typeface="Segoe UI Symbol"/>
                <a:cs typeface="Segoe UI Symbol"/>
              </a:rPr>
              <a:t> </a:t>
            </a:r>
            <a:r>
              <a:rPr sz="2400" spc="-13" dirty="0">
                <a:solidFill>
                  <a:srgbClr val="64728B"/>
                </a:solidFill>
                <a:latin typeface="Calibri"/>
                <a:cs typeface="Calibri"/>
              </a:rPr>
              <a:t>отсутствует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E49A2D-257D-5735-91AA-02A820E6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22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77106-0FFC-718B-E417-A0591E87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F60AE-4B21-51F7-2760-B3560C2AF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2550" y="44450"/>
            <a:ext cx="12211050" cy="1746251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Arial Black" panose="020B0A04020102020204" pitchFamily="34" charset="0"/>
              </a:rPr>
              <a:t>Микросервисная архитектура</a:t>
            </a:r>
            <a:br>
              <a:rPr lang="ru-RU" sz="4800" b="1" dirty="0"/>
            </a:br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A2D44B-69C7-6C45-F866-CC502F7E9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" y="1102945"/>
            <a:ext cx="11379200" cy="549634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91444F-2064-BD13-D7D4-6A9037A6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300" y="6492875"/>
            <a:ext cx="2743200" cy="365125"/>
          </a:xfrm>
        </p:spPr>
        <p:txBody>
          <a:bodyPr/>
          <a:lstStyle/>
          <a:p>
            <a:fld id="{CA60A79C-2184-416A-91F7-4739A91750C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339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D918-358F-FD09-B5D5-86F6E36A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E4059C-34B9-99EA-7894-759E8546A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2550" y="44450"/>
            <a:ext cx="12211050" cy="1746251"/>
          </a:xfrm>
        </p:spPr>
        <p:txBody>
          <a:bodyPr>
            <a:normAutofit/>
          </a:bodyPr>
          <a:lstStyle/>
          <a:p>
            <a:r>
              <a:rPr lang="en-US" sz="4800" b="1" dirty="0"/>
              <a:t>ER</a:t>
            </a:r>
            <a:r>
              <a:rPr lang="ru-RU" sz="4800" b="1" dirty="0"/>
              <a:t> диаграмма БД</a:t>
            </a:r>
            <a:br>
              <a:rPr lang="ru-RU" sz="4800" b="1" dirty="0"/>
            </a:br>
            <a:endParaRPr lang="ru-RU" sz="4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7555DC-CC60-40F9-7578-B38A26631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93" y="1207409"/>
            <a:ext cx="11245613" cy="5187041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FFF17A-057C-9997-4552-3CE0D6BD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9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C053C-7BF3-3B1E-5515-B39F511C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DAAE8-E014-69C3-BF04-7DF03C11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3500" y="165100"/>
            <a:ext cx="12211050" cy="1746251"/>
          </a:xfrm>
        </p:spPr>
        <p:txBody>
          <a:bodyPr>
            <a:noAutofit/>
          </a:bodyPr>
          <a:lstStyle/>
          <a:p>
            <a:r>
              <a:rPr lang="ru-RU" sz="4800" b="1" dirty="0"/>
              <a:t>Интеллектуальный контур (RAG)</a:t>
            </a:r>
            <a:br>
              <a:rPr lang="ru-RU" sz="4800" b="1" dirty="0"/>
            </a:br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5CF6E8-2661-E107-E383-F5A314579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5" y="1544637"/>
            <a:ext cx="9658350" cy="469582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BC4DB4-96F4-1FAB-260A-E4051E94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549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5080-36C0-5DFC-F464-B04D0C53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0C4B2-FE33-D53B-EB75-E627184F1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3500" y="165100"/>
            <a:ext cx="12211050" cy="1746251"/>
          </a:xfrm>
        </p:spPr>
        <p:txBody>
          <a:bodyPr>
            <a:noAutofit/>
          </a:bodyPr>
          <a:lstStyle/>
          <a:p>
            <a:r>
              <a:rPr lang="ru-RU" b="1" dirty="0"/>
              <a:t>Рекомендательная система</a:t>
            </a:r>
            <a:br>
              <a:rPr lang="ru-RU" b="1" dirty="0"/>
            </a:br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58A1CC-8949-FE32-931C-78AB3E67B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" y="1911351"/>
            <a:ext cx="11353800" cy="3416299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AFE8B3-A809-CAC1-E4DE-0D117AC0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711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F4E5-255D-1225-9F13-4390583B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89921-85F3-3FF6-837F-771E09E5A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3500" y="165100"/>
            <a:ext cx="12211050" cy="1746251"/>
          </a:xfrm>
        </p:spPr>
        <p:txBody>
          <a:bodyPr>
            <a:noAutofit/>
          </a:bodyPr>
          <a:lstStyle/>
          <a:p>
            <a:r>
              <a:rPr lang="ru-RU" b="1" dirty="0"/>
              <a:t>Реализация интерфейса</a:t>
            </a:r>
            <a:br>
              <a:rPr lang="ru-RU" b="1" dirty="0"/>
            </a:br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6CDCBA-40C2-B3DF-41C5-DE6292908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250" y="1519534"/>
            <a:ext cx="9207500" cy="4560590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FA82C1-F69B-462F-8D35-1F3845DB6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60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4F9C-3783-71AE-04B2-58C832B9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86716-B053-349F-03B8-327BD7F66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6050" y="44450"/>
            <a:ext cx="12211050" cy="1746251"/>
          </a:xfrm>
        </p:spPr>
        <p:txBody>
          <a:bodyPr>
            <a:noAutofit/>
          </a:bodyPr>
          <a:lstStyle/>
          <a:p>
            <a:r>
              <a:rPr lang="ru-RU" b="1" dirty="0"/>
              <a:t>Реализация интерфейса</a:t>
            </a:r>
            <a:br>
              <a:rPr lang="ru-RU" b="1" dirty="0"/>
            </a:br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26D29D-64B4-DEB3-BAE3-2F9E1B945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51" y="1122197"/>
            <a:ext cx="3686606" cy="53022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0D01B8-72A6-3DA2-71DB-18A8E46B6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676" y="1062265"/>
            <a:ext cx="3697549" cy="53621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997025-4853-8AB3-EF7F-5E4A3CD69A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258" y="1122197"/>
            <a:ext cx="3648470" cy="5302250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AE99827-DE2A-747C-9BE1-23FBEA2C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757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6C1C-F393-AB61-8B6B-D773CF79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2CF172-C9EC-13DB-12BC-3DCB01668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6050" y="44450"/>
            <a:ext cx="12211050" cy="1746251"/>
          </a:xfrm>
        </p:spPr>
        <p:txBody>
          <a:bodyPr>
            <a:noAutofit/>
          </a:bodyPr>
          <a:lstStyle/>
          <a:p>
            <a:r>
              <a:rPr lang="ru-RU" b="1" dirty="0"/>
              <a:t>Реализация интерфейса</a:t>
            </a:r>
            <a:br>
              <a:rPr lang="ru-RU" b="1" dirty="0"/>
            </a:br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7C3BA5-B4C3-CC11-9FDC-47A44785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1206500"/>
            <a:ext cx="3631292" cy="531144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D64C349-C956-FF21-A53A-66D9CC3F3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50" y="1206500"/>
            <a:ext cx="3787775" cy="5311441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4BAAEA09-C683-E7E1-553D-6694DC0E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9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5081-9775-9E72-82E9-8757BD189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250B0-3B43-F8B5-F857-EF6452894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6050" y="44450"/>
            <a:ext cx="12211050" cy="1746251"/>
          </a:xfrm>
        </p:spPr>
        <p:txBody>
          <a:bodyPr>
            <a:noAutofit/>
          </a:bodyPr>
          <a:lstStyle/>
          <a:p>
            <a:r>
              <a:rPr lang="ru-RU" b="1" spc="-13" dirty="0"/>
              <a:t>Нагрузочное</a:t>
            </a:r>
            <a:r>
              <a:rPr lang="ru-RU" b="1" spc="-147" dirty="0"/>
              <a:t> </a:t>
            </a:r>
            <a:r>
              <a:rPr lang="ru-RU" b="1" spc="-13" dirty="0"/>
              <a:t>тестирование</a:t>
            </a:r>
            <a:br>
              <a:rPr lang="ru-RU" b="1" dirty="0"/>
            </a:br>
            <a:endParaRPr lang="ru-RU" sz="4800" b="1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B9E46BC-9326-5DB0-4863-25D1459002E4}"/>
              </a:ext>
            </a:extLst>
          </p:cNvPr>
          <p:cNvGrpSpPr/>
          <p:nvPr/>
        </p:nvGrpSpPr>
        <p:grpSpPr>
          <a:xfrm>
            <a:off x="329112" y="2108201"/>
            <a:ext cx="2732193" cy="1330113"/>
            <a:chOff x="246833" y="1581150"/>
            <a:chExt cx="2049145" cy="99758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77A32F91-2AFA-10C8-D7E5-9CC6C3F4FB2A}"/>
                </a:ext>
              </a:extLst>
            </p:cNvPr>
            <p:cNvSpPr/>
            <p:nvPr/>
          </p:nvSpPr>
          <p:spPr>
            <a:xfrm>
              <a:off x="246833" y="1599107"/>
              <a:ext cx="2030730" cy="979169"/>
            </a:xfrm>
            <a:custGeom>
              <a:avLst/>
              <a:gdLst/>
              <a:ahLst/>
              <a:cxnLst/>
              <a:rect l="l" t="t" r="r" b="b"/>
              <a:pathLst>
                <a:path w="2030730" h="979169">
                  <a:moveTo>
                    <a:pt x="1937473" y="0"/>
                  </a:moveTo>
                  <a:lnTo>
                    <a:pt x="93254" y="0"/>
                  </a:lnTo>
                  <a:lnTo>
                    <a:pt x="57101" y="7378"/>
                  </a:lnTo>
                  <a:lnTo>
                    <a:pt x="27442" y="27444"/>
                  </a:lnTo>
                  <a:lnTo>
                    <a:pt x="7376" y="57099"/>
                  </a:lnTo>
                  <a:lnTo>
                    <a:pt x="0" y="93256"/>
                  </a:lnTo>
                  <a:lnTo>
                    <a:pt x="0" y="885913"/>
                  </a:lnTo>
                  <a:lnTo>
                    <a:pt x="7376" y="922070"/>
                  </a:lnTo>
                  <a:lnTo>
                    <a:pt x="27442" y="951725"/>
                  </a:lnTo>
                  <a:lnTo>
                    <a:pt x="57101" y="971791"/>
                  </a:lnTo>
                  <a:lnTo>
                    <a:pt x="93254" y="979170"/>
                  </a:lnTo>
                  <a:lnTo>
                    <a:pt x="1937473" y="979170"/>
                  </a:lnTo>
                  <a:lnTo>
                    <a:pt x="1973630" y="971791"/>
                  </a:lnTo>
                  <a:lnTo>
                    <a:pt x="2003285" y="951725"/>
                  </a:lnTo>
                  <a:lnTo>
                    <a:pt x="2023351" y="922070"/>
                  </a:lnTo>
                  <a:lnTo>
                    <a:pt x="2030730" y="885913"/>
                  </a:lnTo>
                  <a:lnTo>
                    <a:pt x="2030730" y="93256"/>
                  </a:lnTo>
                  <a:lnTo>
                    <a:pt x="2023351" y="57099"/>
                  </a:lnTo>
                  <a:lnTo>
                    <a:pt x="2003285" y="27444"/>
                  </a:lnTo>
                  <a:lnTo>
                    <a:pt x="1973630" y="7378"/>
                  </a:lnTo>
                  <a:lnTo>
                    <a:pt x="1937473" y="0"/>
                  </a:lnTo>
                  <a:close/>
                </a:path>
              </a:pathLst>
            </a:custGeom>
            <a:solidFill>
              <a:srgbClr val="000000">
                <a:alpha val="6274"/>
              </a:srgbClr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7DCB86A-7823-84D6-F6C9-1C492B815ABF}"/>
                </a:ext>
              </a:extLst>
            </p:cNvPr>
            <p:cNvSpPr/>
            <p:nvPr/>
          </p:nvSpPr>
          <p:spPr>
            <a:xfrm>
              <a:off x="274319" y="1590675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80" h="960119">
                  <a:moveTo>
                    <a:pt x="1920239" y="0"/>
                  </a:moveTo>
                  <a:lnTo>
                    <a:pt x="91440" y="0"/>
                  </a:lnTo>
                  <a:lnTo>
                    <a:pt x="55990" y="7238"/>
                  </a:lnTo>
                  <a:lnTo>
                    <a:pt x="26908" y="26911"/>
                  </a:lnTo>
                  <a:lnTo>
                    <a:pt x="7232" y="55994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232" y="904125"/>
                  </a:lnTo>
                  <a:lnTo>
                    <a:pt x="26908" y="933208"/>
                  </a:lnTo>
                  <a:lnTo>
                    <a:pt x="55990" y="952880"/>
                  </a:lnTo>
                  <a:lnTo>
                    <a:pt x="91440" y="960120"/>
                  </a:lnTo>
                  <a:lnTo>
                    <a:pt x="1920239" y="960120"/>
                  </a:lnTo>
                  <a:lnTo>
                    <a:pt x="1955685" y="952880"/>
                  </a:lnTo>
                  <a:lnTo>
                    <a:pt x="1984768" y="933208"/>
                  </a:lnTo>
                  <a:lnTo>
                    <a:pt x="2004441" y="904125"/>
                  </a:lnTo>
                  <a:lnTo>
                    <a:pt x="2011680" y="868679"/>
                  </a:lnTo>
                  <a:lnTo>
                    <a:pt x="2011680" y="91439"/>
                  </a:lnTo>
                  <a:lnTo>
                    <a:pt x="2004441" y="55994"/>
                  </a:lnTo>
                  <a:lnTo>
                    <a:pt x="1984768" y="26911"/>
                  </a:lnTo>
                  <a:lnTo>
                    <a:pt x="1955685" y="7238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63C3EA8-3F3C-5EFA-D30B-C96741EB5095}"/>
                </a:ext>
              </a:extLst>
            </p:cNvPr>
            <p:cNvSpPr/>
            <p:nvPr/>
          </p:nvSpPr>
          <p:spPr>
            <a:xfrm>
              <a:off x="274319" y="1590675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80" h="960119">
                  <a:moveTo>
                    <a:pt x="0" y="91439"/>
                  </a:moveTo>
                  <a:lnTo>
                    <a:pt x="7232" y="55994"/>
                  </a:lnTo>
                  <a:lnTo>
                    <a:pt x="26908" y="26911"/>
                  </a:lnTo>
                  <a:lnTo>
                    <a:pt x="55990" y="7238"/>
                  </a:lnTo>
                  <a:lnTo>
                    <a:pt x="91440" y="0"/>
                  </a:lnTo>
                  <a:lnTo>
                    <a:pt x="1920239" y="0"/>
                  </a:lnTo>
                  <a:lnTo>
                    <a:pt x="1955685" y="7238"/>
                  </a:lnTo>
                  <a:lnTo>
                    <a:pt x="1984768" y="26911"/>
                  </a:lnTo>
                  <a:lnTo>
                    <a:pt x="2004441" y="55994"/>
                  </a:lnTo>
                  <a:lnTo>
                    <a:pt x="2011680" y="91439"/>
                  </a:lnTo>
                  <a:lnTo>
                    <a:pt x="2011680" y="868679"/>
                  </a:lnTo>
                  <a:lnTo>
                    <a:pt x="2004441" y="904125"/>
                  </a:lnTo>
                  <a:lnTo>
                    <a:pt x="1984768" y="933208"/>
                  </a:lnTo>
                  <a:lnTo>
                    <a:pt x="1955685" y="952880"/>
                  </a:lnTo>
                  <a:lnTo>
                    <a:pt x="1920239" y="960120"/>
                  </a:lnTo>
                  <a:lnTo>
                    <a:pt x="91440" y="960120"/>
                  </a:lnTo>
                  <a:lnTo>
                    <a:pt x="55990" y="952880"/>
                  </a:lnTo>
                  <a:lnTo>
                    <a:pt x="26908" y="933208"/>
                  </a:lnTo>
                  <a:lnTo>
                    <a:pt x="7232" y="904125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9048">
              <a:solidFill>
                <a:srgbClr val="D0E4F3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084B03CF-9C43-AC94-DED4-7395E8006116}"/>
              </a:ext>
            </a:extLst>
          </p:cNvPr>
          <p:cNvSpPr txBox="1"/>
          <p:nvPr/>
        </p:nvSpPr>
        <p:spPr>
          <a:xfrm>
            <a:off x="804413" y="1797542"/>
            <a:ext cx="1735667" cy="1381574"/>
          </a:xfrm>
          <a:prstGeom prst="rect">
            <a:avLst/>
          </a:prstGeom>
        </p:spPr>
        <p:txBody>
          <a:bodyPr vert="horz" wrap="square" lIns="0" tIns="349673" rIns="0" bIns="0" rtlCol="0">
            <a:spAutoFit/>
          </a:bodyPr>
          <a:lstStyle/>
          <a:p>
            <a:pPr marR="37252" algn="ctr">
              <a:spcBef>
                <a:spcPts val="2753"/>
              </a:spcBef>
            </a:pPr>
            <a:r>
              <a:rPr sz="3733" b="1" dirty="0">
                <a:latin typeface="Calibri"/>
                <a:cs typeface="Calibri"/>
              </a:rPr>
              <a:t>50</a:t>
            </a:r>
            <a:r>
              <a:rPr sz="3733" b="1" spc="-80" dirty="0">
                <a:latin typeface="Calibri"/>
                <a:cs typeface="Calibri"/>
              </a:rPr>
              <a:t> </a:t>
            </a:r>
            <a:r>
              <a:rPr sz="3733" b="1" spc="-33" dirty="0">
                <a:latin typeface="Calibri"/>
                <a:cs typeface="Calibri"/>
              </a:rPr>
              <a:t>RPS</a:t>
            </a:r>
            <a:endParaRPr sz="3733" dirty="0">
              <a:latin typeface="Calibri"/>
              <a:cs typeface="Calibri"/>
            </a:endParaRPr>
          </a:p>
          <a:p>
            <a:pPr algn="ctr">
              <a:spcBef>
                <a:spcPts val="1313"/>
              </a:spcBef>
            </a:pPr>
            <a:r>
              <a:rPr sz="1867" spc="-13" dirty="0">
                <a:latin typeface="Calibri"/>
                <a:cs typeface="Calibri"/>
              </a:rPr>
              <a:t>catalog</a:t>
            </a:r>
            <a:r>
              <a:rPr sz="1867" spc="-27" dirty="0">
                <a:latin typeface="Calibri"/>
                <a:cs typeface="Calibri"/>
              </a:rPr>
              <a:t> </a:t>
            </a:r>
            <a:r>
              <a:rPr sz="1867" spc="-13" dirty="0">
                <a:latin typeface="Calibri"/>
                <a:cs typeface="Calibri"/>
              </a:rPr>
              <a:t>сценарий</a:t>
            </a:r>
            <a:endParaRPr sz="1867" dirty="0">
              <a:latin typeface="Calibri"/>
              <a:cs typeface="Calibri"/>
            </a:endParaRPr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CE57B78E-1E5B-89F8-3CB7-2AE93E2C097C}"/>
              </a:ext>
            </a:extLst>
          </p:cNvPr>
          <p:cNvGrpSpPr/>
          <p:nvPr/>
        </p:nvGrpSpPr>
        <p:grpSpPr>
          <a:xfrm>
            <a:off x="3255197" y="2108201"/>
            <a:ext cx="2732193" cy="1330113"/>
            <a:chOff x="2441397" y="1581150"/>
            <a:chExt cx="2049145" cy="997585"/>
          </a:xfrm>
        </p:grpSpPr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5114F897-338B-6F70-84FD-9D3B5FBCDF08}"/>
                </a:ext>
              </a:extLst>
            </p:cNvPr>
            <p:cNvSpPr/>
            <p:nvPr/>
          </p:nvSpPr>
          <p:spPr>
            <a:xfrm>
              <a:off x="2441397" y="1599107"/>
              <a:ext cx="2030730" cy="979169"/>
            </a:xfrm>
            <a:custGeom>
              <a:avLst/>
              <a:gdLst/>
              <a:ahLst/>
              <a:cxnLst/>
              <a:rect l="l" t="t" r="r" b="b"/>
              <a:pathLst>
                <a:path w="2030729" h="979169">
                  <a:moveTo>
                    <a:pt x="1937473" y="0"/>
                  </a:moveTo>
                  <a:lnTo>
                    <a:pt x="93254" y="0"/>
                  </a:lnTo>
                  <a:lnTo>
                    <a:pt x="57101" y="7378"/>
                  </a:lnTo>
                  <a:lnTo>
                    <a:pt x="27442" y="27444"/>
                  </a:lnTo>
                  <a:lnTo>
                    <a:pt x="7376" y="57099"/>
                  </a:lnTo>
                  <a:lnTo>
                    <a:pt x="0" y="93256"/>
                  </a:lnTo>
                  <a:lnTo>
                    <a:pt x="0" y="885913"/>
                  </a:lnTo>
                  <a:lnTo>
                    <a:pt x="7376" y="922070"/>
                  </a:lnTo>
                  <a:lnTo>
                    <a:pt x="27442" y="951725"/>
                  </a:lnTo>
                  <a:lnTo>
                    <a:pt x="57101" y="971791"/>
                  </a:lnTo>
                  <a:lnTo>
                    <a:pt x="93254" y="979170"/>
                  </a:lnTo>
                  <a:lnTo>
                    <a:pt x="1937473" y="979170"/>
                  </a:lnTo>
                  <a:lnTo>
                    <a:pt x="1973630" y="971791"/>
                  </a:lnTo>
                  <a:lnTo>
                    <a:pt x="2003285" y="951725"/>
                  </a:lnTo>
                  <a:lnTo>
                    <a:pt x="2023351" y="922070"/>
                  </a:lnTo>
                  <a:lnTo>
                    <a:pt x="2030730" y="885913"/>
                  </a:lnTo>
                  <a:lnTo>
                    <a:pt x="2030730" y="93256"/>
                  </a:lnTo>
                  <a:lnTo>
                    <a:pt x="2023351" y="57099"/>
                  </a:lnTo>
                  <a:lnTo>
                    <a:pt x="2003285" y="27444"/>
                  </a:lnTo>
                  <a:lnTo>
                    <a:pt x="1973630" y="7378"/>
                  </a:lnTo>
                  <a:lnTo>
                    <a:pt x="1937473" y="0"/>
                  </a:lnTo>
                  <a:close/>
                </a:path>
              </a:pathLst>
            </a:custGeom>
            <a:solidFill>
              <a:srgbClr val="000000">
                <a:alpha val="6274"/>
              </a:srgbClr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2F0282DF-C012-853B-1E3B-122D2F59A79D}"/>
                </a:ext>
              </a:extLst>
            </p:cNvPr>
            <p:cNvSpPr/>
            <p:nvPr/>
          </p:nvSpPr>
          <p:spPr>
            <a:xfrm>
              <a:off x="2468879" y="1590675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19">
                  <a:moveTo>
                    <a:pt x="1920239" y="0"/>
                  </a:moveTo>
                  <a:lnTo>
                    <a:pt x="91440" y="0"/>
                  </a:lnTo>
                  <a:lnTo>
                    <a:pt x="55990" y="7238"/>
                  </a:lnTo>
                  <a:lnTo>
                    <a:pt x="26908" y="26911"/>
                  </a:lnTo>
                  <a:lnTo>
                    <a:pt x="7232" y="55994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232" y="904125"/>
                  </a:lnTo>
                  <a:lnTo>
                    <a:pt x="26908" y="933208"/>
                  </a:lnTo>
                  <a:lnTo>
                    <a:pt x="55990" y="952880"/>
                  </a:lnTo>
                  <a:lnTo>
                    <a:pt x="91440" y="960120"/>
                  </a:lnTo>
                  <a:lnTo>
                    <a:pt x="1920239" y="960120"/>
                  </a:lnTo>
                  <a:lnTo>
                    <a:pt x="1955685" y="952880"/>
                  </a:lnTo>
                  <a:lnTo>
                    <a:pt x="1984768" y="933208"/>
                  </a:lnTo>
                  <a:lnTo>
                    <a:pt x="2004441" y="904125"/>
                  </a:lnTo>
                  <a:lnTo>
                    <a:pt x="2011680" y="868679"/>
                  </a:lnTo>
                  <a:lnTo>
                    <a:pt x="2011680" y="91439"/>
                  </a:lnTo>
                  <a:lnTo>
                    <a:pt x="2004441" y="55994"/>
                  </a:lnTo>
                  <a:lnTo>
                    <a:pt x="1984768" y="26911"/>
                  </a:lnTo>
                  <a:lnTo>
                    <a:pt x="1955685" y="7238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DC15A31E-9202-5A48-3639-3F464C1024C9}"/>
                </a:ext>
              </a:extLst>
            </p:cNvPr>
            <p:cNvSpPr/>
            <p:nvPr/>
          </p:nvSpPr>
          <p:spPr>
            <a:xfrm>
              <a:off x="2468879" y="1590675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19">
                  <a:moveTo>
                    <a:pt x="0" y="91439"/>
                  </a:moveTo>
                  <a:lnTo>
                    <a:pt x="7232" y="55994"/>
                  </a:lnTo>
                  <a:lnTo>
                    <a:pt x="26908" y="26911"/>
                  </a:lnTo>
                  <a:lnTo>
                    <a:pt x="55990" y="7238"/>
                  </a:lnTo>
                  <a:lnTo>
                    <a:pt x="91440" y="0"/>
                  </a:lnTo>
                  <a:lnTo>
                    <a:pt x="1920239" y="0"/>
                  </a:lnTo>
                  <a:lnTo>
                    <a:pt x="1955685" y="7238"/>
                  </a:lnTo>
                  <a:lnTo>
                    <a:pt x="1984768" y="26911"/>
                  </a:lnTo>
                  <a:lnTo>
                    <a:pt x="2004441" y="55994"/>
                  </a:lnTo>
                  <a:lnTo>
                    <a:pt x="2011680" y="91439"/>
                  </a:lnTo>
                  <a:lnTo>
                    <a:pt x="2011680" y="868679"/>
                  </a:lnTo>
                  <a:lnTo>
                    <a:pt x="2004441" y="904125"/>
                  </a:lnTo>
                  <a:lnTo>
                    <a:pt x="1984768" y="933208"/>
                  </a:lnTo>
                  <a:lnTo>
                    <a:pt x="1955685" y="952880"/>
                  </a:lnTo>
                  <a:lnTo>
                    <a:pt x="1920239" y="960120"/>
                  </a:lnTo>
                  <a:lnTo>
                    <a:pt x="91440" y="960120"/>
                  </a:lnTo>
                  <a:lnTo>
                    <a:pt x="55990" y="952880"/>
                  </a:lnTo>
                  <a:lnTo>
                    <a:pt x="26908" y="933208"/>
                  </a:lnTo>
                  <a:lnTo>
                    <a:pt x="7232" y="904125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9048">
              <a:solidFill>
                <a:srgbClr val="D0E4F3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" name="object 12">
            <a:extLst>
              <a:ext uri="{FF2B5EF4-FFF2-40B4-BE49-F238E27FC236}">
                <a16:creationId xmlns:a16="http://schemas.microsoft.com/office/drawing/2014/main" id="{E7A75817-2E37-808B-8A99-9D9AD61D54A3}"/>
              </a:ext>
            </a:extLst>
          </p:cNvPr>
          <p:cNvSpPr txBox="1"/>
          <p:nvPr/>
        </p:nvSpPr>
        <p:spPr>
          <a:xfrm>
            <a:off x="3487166" y="1797542"/>
            <a:ext cx="2333413" cy="1381574"/>
          </a:xfrm>
          <a:prstGeom prst="rect">
            <a:avLst/>
          </a:prstGeom>
        </p:spPr>
        <p:txBody>
          <a:bodyPr vert="horz" wrap="square" lIns="0" tIns="349673" rIns="0" bIns="0" rtlCol="0">
            <a:spAutoFit/>
          </a:bodyPr>
          <a:lstStyle/>
          <a:p>
            <a:pPr algn="ctr">
              <a:spcBef>
                <a:spcPts val="2753"/>
              </a:spcBef>
            </a:pPr>
            <a:r>
              <a:rPr sz="3733" b="1" spc="-13" dirty="0">
                <a:latin typeface="Calibri"/>
                <a:cs typeface="Calibri"/>
              </a:rPr>
              <a:t>180–240</a:t>
            </a:r>
            <a:r>
              <a:rPr sz="3733" b="1" spc="-187" dirty="0">
                <a:latin typeface="Calibri"/>
                <a:cs typeface="Calibri"/>
              </a:rPr>
              <a:t> </a:t>
            </a:r>
            <a:r>
              <a:rPr sz="3733" b="1" spc="-33" dirty="0">
                <a:latin typeface="Calibri"/>
                <a:cs typeface="Calibri"/>
              </a:rPr>
              <a:t>мс</a:t>
            </a:r>
            <a:endParaRPr sz="3733" dirty="0">
              <a:latin typeface="Calibri"/>
              <a:cs typeface="Calibri"/>
            </a:endParaRPr>
          </a:p>
          <a:p>
            <a:pPr algn="ctr">
              <a:spcBef>
                <a:spcPts val="1313"/>
              </a:spcBef>
            </a:pPr>
            <a:r>
              <a:rPr sz="1867" dirty="0">
                <a:latin typeface="Calibri"/>
                <a:cs typeface="Calibri"/>
              </a:rPr>
              <a:t>p95</a:t>
            </a:r>
            <a:r>
              <a:rPr sz="1867" spc="-53" dirty="0">
                <a:latin typeface="Calibri"/>
                <a:cs typeface="Calibri"/>
              </a:rPr>
              <a:t> </a:t>
            </a:r>
            <a:r>
              <a:rPr sz="1867" spc="-13" dirty="0">
                <a:latin typeface="Calibri"/>
                <a:cs typeface="Calibri"/>
              </a:rPr>
              <a:t>latency</a:t>
            </a:r>
            <a:r>
              <a:rPr sz="1867" spc="-53" dirty="0">
                <a:latin typeface="Calibri"/>
                <a:cs typeface="Calibri"/>
              </a:rPr>
              <a:t> </a:t>
            </a:r>
            <a:r>
              <a:rPr sz="1867" spc="-13" dirty="0">
                <a:latin typeface="Calibri"/>
                <a:cs typeface="Calibri"/>
              </a:rPr>
              <a:t>каталога</a:t>
            </a:r>
            <a:endParaRPr sz="1867" dirty="0">
              <a:latin typeface="Calibri"/>
              <a:cs typeface="Calibri"/>
            </a:endParaRPr>
          </a:p>
        </p:txBody>
      </p: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36803ECA-CA43-7193-1D9F-6996DB5D93A8}"/>
              </a:ext>
            </a:extLst>
          </p:cNvPr>
          <p:cNvGrpSpPr/>
          <p:nvPr/>
        </p:nvGrpSpPr>
        <p:grpSpPr>
          <a:xfrm>
            <a:off x="6181277" y="2108201"/>
            <a:ext cx="2732193" cy="1330113"/>
            <a:chOff x="4635957" y="1581150"/>
            <a:chExt cx="2049145" cy="997585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D6CF84CF-058E-7293-B035-2FB90D754DDA}"/>
                </a:ext>
              </a:extLst>
            </p:cNvPr>
            <p:cNvSpPr/>
            <p:nvPr/>
          </p:nvSpPr>
          <p:spPr>
            <a:xfrm>
              <a:off x="4635957" y="1599107"/>
              <a:ext cx="2030730" cy="979169"/>
            </a:xfrm>
            <a:custGeom>
              <a:avLst/>
              <a:gdLst/>
              <a:ahLst/>
              <a:cxnLst/>
              <a:rect l="l" t="t" r="r" b="b"/>
              <a:pathLst>
                <a:path w="2030729" h="979169">
                  <a:moveTo>
                    <a:pt x="1937473" y="0"/>
                  </a:moveTo>
                  <a:lnTo>
                    <a:pt x="93254" y="0"/>
                  </a:lnTo>
                  <a:lnTo>
                    <a:pt x="57101" y="7378"/>
                  </a:lnTo>
                  <a:lnTo>
                    <a:pt x="27442" y="27444"/>
                  </a:lnTo>
                  <a:lnTo>
                    <a:pt x="7376" y="57099"/>
                  </a:lnTo>
                  <a:lnTo>
                    <a:pt x="0" y="93256"/>
                  </a:lnTo>
                  <a:lnTo>
                    <a:pt x="0" y="885913"/>
                  </a:lnTo>
                  <a:lnTo>
                    <a:pt x="7376" y="922070"/>
                  </a:lnTo>
                  <a:lnTo>
                    <a:pt x="27442" y="951725"/>
                  </a:lnTo>
                  <a:lnTo>
                    <a:pt x="57101" y="971791"/>
                  </a:lnTo>
                  <a:lnTo>
                    <a:pt x="93254" y="979170"/>
                  </a:lnTo>
                  <a:lnTo>
                    <a:pt x="1937473" y="979170"/>
                  </a:lnTo>
                  <a:lnTo>
                    <a:pt x="1973630" y="971791"/>
                  </a:lnTo>
                  <a:lnTo>
                    <a:pt x="2003285" y="951725"/>
                  </a:lnTo>
                  <a:lnTo>
                    <a:pt x="2023351" y="922070"/>
                  </a:lnTo>
                  <a:lnTo>
                    <a:pt x="2030730" y="885913"/>
                  </a:lnTo>
                  <a:lnTo>
                    <a:pt x="2030730" y="93256"/>
                  </a:lnTo>
                  <a:lnTo>
                    <a:pt x="2023351" y="57099"/>
                  </a:lnTo>
                  <a:lnTo>
                    <a:pt x="2003285" y="27444"/>
                  </a:lnTo>
                  <a:lnTo>
                    <a:pt x="1973630" y="7378"/>
                  </a:lnTo>
                  <a:lnTo>
                    <a:pt x="1937473" y="0"/>
                  </a:lnTo>
                  <a:close/>
                </a:path>
              </a:pathLst>
            </a:custGeom>
            <a:solidFill>
              <a:srgbClr val="000000">
                <a:alpha val="6274"/>
              </a:srgbClr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D3CF17A1-833A-BB32-8AAA-3CB98FFBDA12}"/>
                </a:ext>
              </a:extLst>
            </p:cNvPr>
            <p:cNvSpPr/>
            <p:nvPr/>
          </p:nvSpPr>
          <p:spPr>
            <a:xfrm>
              <a:off x="4663440" y="1590675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19">
                  <a:moveTo>
                    <a:pt x="1920239" y="0"/>
                  </a:moveTo>
                  <a:lnTo>
                    <a:pt x="91440" y="0"/>
                  </a:lnTo>
                  <a:lnTo>
                    <a:pt x="55990" y="7238"/>
                  </a:lnTo>
                  <a:lnTo>
                    <a:pt x="26908" y="26911"/>
                  </a:lnTo>
                  <a:lnTo>
                    <a:pt x="7232" y="55994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232" y="904125"/>
                  </a:lnTo>
                  <a:lnTo>
                    <a:pt x="26908" y="933208"/>
                  </a:lnTo>
                  <a:lnTo>
                    <a:pt x="55990" y="952880"/>
                  </a:lnTo>
                  <a:lnTo>
                    <a:pt x="91440" y="960120"/>
                  </a:lnTo>
                  <a:lnTo>
                    <a:pt x="1920239" y="960120"/>
                  </a:lnTo>
                  <a:lnTo>
                    <a:pt x="1955685" y="952880"/>
                  </a:lnTo>
                  <a:lnTo>
                    <a:pt x="1984768" y="933208"/>
                  </a:lnTo>
                  <a:lnTo>
                    <a:pt x="2004441" y="904125"/>
                  </a:lnTo>
                  <a:lnTo>
                    <a:pt x="2011680" y="868679"/>
                  </a:lnTo>
                  <a:lnTo>
                    <a:pt x="2011680" y="91439"/>
                  </a:lnTo>
                  <a:lnTo>
                    <a:pt x="2004441" y="55994"/>
                  </a:lnTo>
                  <a:lnTo>
                    <a:pt x="1984768" y="26911"/>
                  </a:lnTo>
                  <a:lnTo>
                    <a:pt x="1955685" y="7238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F2E90FE7-3302-E600-951D-6C9ED3270B5E}"/>
                </a:ext>
              </a:extLst>
            </p:cNvPr>
            <p:cNvSpPr/>
            <p:nvPr/>
          </p:nvSpPr>
          <p:spPr>
            <a:xfrm>
              <a:off x="4663440" y="1590675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19">
                  <a:moveTo>
                    <a:pt x="0" y="91439"/>
                  </a:moveTo>
                  <a:lnTo>
                    <a:pt x="7232" y="55994"/>
                  </a:lnTo>
                  <a:lnTo>
                    <a:pt x="26908" y="26911"/>
                  </a:lnTo>
                  <a:lnTo>
                    <a:pt x="55990" y="7238"/>
                  </a:lnTo>
                  <a:lnTo>
                    <a:pt x="91440" y="0"/>
                  </a:lnTo>
                  <a:lnTo>
                    <a:pt x="1920239" y="0"/>
                  </a:lnTo>
                  <a:lnTo>
                    <a:pt x="1955685" y="7238"/>
                  </a:lnTo>
                  <a:lnTo>
                    <a:pt x="1984768" y="26911"/>
                  </a:lnTo>
                  <a:lnTo>
                    <a:pt x="2004441" y="55994"/>
                  </a:lnTo>
                  <a:lnTo>
                    <a:pt x="2011680" y="91439"/>
                  </a:lnTo>
                  <a:lnTo>
                    <a:pt x="2011680" y="868679"/>
                  </a:lnTo>
                  <a:lnTo>
                    <a:pt x="2004441" y="904125"/>
                  </a:lnTo>
                  <a:lnTo>
                    <a:pt x="1984768" y="933208"/>
                  </a:lnTo>
                  <a:lnTo>
                    <a:pt x="1955685" y="952880"/>
                  </a:lnTo>
                  <a:lnTo>
                    <a:pt x="1920239" y="960120"/>
                  </a:lnTo>
                  <a:lnTo>
                    <a:pt x="91440" y="960120"/>
                  </a:lnTo>
                  <a:lnTo>
                    <a:pt x="55990" y="952880"/>
                  </a:lnTo>
                  <a:lnTo>
                    <a:pt x="26908" y="933208"/>
                  </a:lnTo>
                  <a:lnTo>
                    <a:pt x="7232" y="904125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9048">
              <a:solidFill>
                <a:srgbClr val="D0E4F3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" name="object 17">
            <a:extLst>
              <a:ext uri="{FF2B5EF4-FFF2-40B4-BE49-F238E27FC236}">
                <a16:creationId xmlns:a16="http://schemas.microsoft.com/office/drawing/2014/main" id="{589F4834-569F-D1B8-AF86-948A16DBEF87}"/>
              </a:ext>
            </a:extLst>
          </p:cNvPr>
          <p:cNvSpPr txBox="1"/>
          <p:nvPr/>
        </p:nvSpPr>
        <p:spPr>
          <a:xfrm>
            <a:off x="6921166" y="1907719"/>
            <a:ext cx="1326725" cy="1381574"/>
          </a:xfrm>
          <a:prstGeom prst="rect">
            <a:avLst/>
          </a:prstGeom>
        </p:spPr>
        <p:txBody>
          <a:bodyPr vert="horz" wrap="square" lIns="0" tIns="349673" rIns="0" bIns="0" rtlCol="0">
            <a:spAutoFit/>
          </a:bodyPr>
          <a:lstStyle/>
          <a:p>
            <a:pPr algn="ctr">
              <a:spcBef>
                <a:spcPts val="2753"/>
              </a:spcBef>
            </a:pPr>
            <a:r>
              <a:rPr sz="3733" b="1" spc="-27" dirty="0">
                <a:latin typeface="Calibri"/>
                <a:cs typeface="Calibri"/>
              </a:rPr>
              <a:t>0,3%</a:t>
            </a:r>
            <a:endParaRPr sz="3733" dirty="0">
              <a:latin typeface="Calibri"/>
              <a:cs typeface="Calibri"/>
            </a:endParaRPr>
          </a:p>
          <a:p>
            <a:pPr algn="ctr">
              <a:spcBef>
                <a:spcPts val="1313"/>
              </a:spcBef>
            </a:pPr>
            <a:r>
              <a:rPr sz="1867" spc="-13" dirty="0">
                <a:latin typeface="Calibri"/>
                <a:cs typeface="Calibri"/>
              </a:rPr>
              <a:t>Error</a:t>
            </a:r>
            <a:r>
              <a:rPr sz="1867" spc="-80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rate</a:t>
            </a:r>
            <a:r>
              <a:rPr sz="1867" spc="-67" dirty="0">
                <a:latin typeface="Calibri"/>
                <a:cs typeface="Calibri"/>
              </a:rPr>
              <a:t> </a:t>
            </a:r>
            <a:r>
              <a:rPr sz="1867" spc="-33" dirty="0">
                <a:latin typeface="Calibri"/>
                <a:cs typeface="Calibri"/>
              </a:rPr>
              <a:t>5xx</a:t>
            </a:r>
            <a:endParaRPr sz="1867" dirty="0">
              <a:latin typeface="Calibri"/>
              <a:cs typeface="Calibri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69995103-4495-8260-8D35-2E3DF23CDC5C}"/>
              </a:ext>
            </a:extLst>
          </p:cNvPr>
          <p:cNvSpPr txBox="1"/>
          <p:nvPr/>
        </p:nvSpPr>
        <p:spPr>
          <a:xfrm>
            <a:off x="531703" y="3982719"/>
            <a:ext cx="2954661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400" b="1" spc="-5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</a:t>
            </a:r>
            <a:r>
              <a:rPr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</a:t>
            </a:r>
            <a:r>
              <a:rPr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</a:t>
            </a:r>
            <a:r>
              <a:rPr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</a:t>
            </a:r>
            <a:r>
              <a:rPr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</a:t>
            </a:r>
            <a:r>
              <a:rPr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6" name="object 24">
            <a:extLst>
              <a:ext uri="{FF2B5EF4-FFF2-40B4-BE49-F238E27FC236}">
                <a16:creationId xmlns:a16="http://schemas.microsoft.com/office/drawing/2014/main" id="{222B78EA-04CF-6A35-C35B-91DBD6A0A860}"/>
              </a:ext>
            </a:extLst>
          </p:cNvPr>
          <p:cNvGrpSpPr/>
          <p:nvPr/>
        </p:nvGrpSpPr>
        <p:grpSpPr>
          <a:xfrm>
            <a:off x="329112" y="4341877"/>
            <a:ext cx="2732193" cy="1330113"/>
            <a:chOff x="246833" y="2980182"/>
            <a:chExt cx="2049145" cy="997585"/>
          </a:xfrm>
        </p:grpSpPr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9FB2FA59-3044-C673-0107-CE3A1DE78F02}"/>
                </a:ext>
              </a:extLst>
            </p:cNvPr>
            <p:cNvSpPr/>
            <p:nvPr/>
          </p:nvSpPr>
          <p:spPr>
            <a:xfrm>
              <a:off x="246833" y="2998139"/>
              <a:ext cx="2030730" cy="979169"/>
            </a:xfrm>
            <a:custGeom>
              <a:avLst/>
              <a:gdLst/>
              <a:ahLst/>
              <a:cxnLst/>
              <a:rect l="l" t="t" r="r" b="b"/>
              <a:pathLst>
                <a:path w="2030730" h="979170">
                  <a:moveTo>
                    <a:pt x="1937473" y="0"/>
                  </a:moveTo>
                  <a:lnTo>
                    <a:pt x="93254" y="0"/>
                  </a:lnTo>
                  <a:lnTo>
                    <a:pt x="57101" y="7378"/>
                  </a:lnTo>
                  <a:lnTo>
                    <a:pt x="27442" y="27444"/>
                  </a:lnTo>
                  <a:lnTo>
                    <a:pt x="7376" y="57099"/>
                  </a:lnTo>
                  <a:lnTo>
                    <a:pt x="0" y="93256"/>
                  </a:lnTo>
                  <a:lnTo>
                    <a:pt x="0" y="885913"/>
                  </a:lnTo>
                  <a:lnTo>
                    <a:pt x="7376" y="922070"/>
                  </a:lnTo>
                  <a:lnTo>
                    <a:pt x="27442" y="951725"/>
                  </a:lnTo>
                  <a:lnTo>
                    <a:pt x="57101" y="971791"/>
                  </a:lnTo>
                  <a:lnTo>
                    <a:pt x="93254" y="979170"/>
                  </a:lnTo>
                  <a:lnTo>
                    <a:pt x="1937473" y="979170"/>
                  </a:lnTo>
                  <a:lnTo>
                    <a:pt x="1973630" y="971791"/>
                  </a:lnTo>
                  <a:lnTo>
                    <a:pt x="2003285" y="951725"/>
                  </a:lnTo>
                  <a:lnTo>
                    <a:pt x="2023351" y="922070"/>
                  </a:lnTo>
                  <a:lnTo>
                    <a:pt x="2030730" y="885913"/>
                  </a:lnTo>
                  <a:lnTo>
                    <a:pt x="2030730" y="93256"/>
                  </a:lnTo>
                  <a:lnTo>
                    <a:pt x="2023351" y="57099"/>
                  </a:lnTo>
                  <a:lnTo>
                    <a:pt x="2003285" y="27444"/>
                  </a:lnTo>
                  <a:lnTo>
                    <a:pt x="1973630" y="7378"/>
                  </a:lnTo>
                  <a:lnTo>
                    <a:pt x="1937473" y="0"/>
                  </a:lnTo>
                  <a:close/>
                </a:path>
              </a:pathLst>
            </a:custGeom>
            <a:solidFill>
              <a:srgbClr val="000000">
                <a:alpha val="6274"/>
              </a:srgbClr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4ACFC642-3605-FA3F-2809-9A0BD4A3663A}"/>
                </a:ext>
              </a:extLst>
            </p:cNvPr>
            <p:cNvSpPr/>
            <p:nvPr/>
          </p:nvSpPr>
          <p:spPr>
            <a:xfrm>
              <a:off x="274319" y="2989706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80" h="960120">
                  <a:moveTo>
                    <a:pt x="1920239" y="0"/>
                  </a:moveTo>
                  <a:lnTo>
                    <a:pt x="91440" y="0"/>
                  </a:lnTo>
                  <a:lnTo>
                    <a:pt x="55990" y="7238"/>
                  </a:lnTo>
                  <a:lnTo>
                    <a:pt x="26908" y="26911"/>
                  </a:lnTo>
                  <a:lnTo>
                    <a:pt x="7232" y="55994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232" y="904125"/>
                  </a:lnTo>
                  <a:lnTo>
                    <a:pt x="26908" y="933208"/>
                  </a:lnTo>
                  <a:lnTo>
                    <a:pt x="55990" y="952880"/>
                  </a:lnTo>
                  <a:lnTo>
                    <a:pt x="91440" y="960120"/>
                  </a:lnTo>
                  <a:lnTo>
                    <a:pt x="1920239" y="960120"/>
                  </a:lnTo>
                  <a:lnTo>
                    <a:pt x="1955685" y="952880"/>
                  </a:lnTo>
                  <a:lnTo>
                    <a:pt x="1984768" y="933208"/>
                  </a:lnTo>
                  <a:lnTo>
                    <a:pt x="2004441" y="904125"/>
                  </a:lnTo>
                  <a:lnTo>
                    <a:pt x="2011680" y="868679"/>
                  </a:lnTo>
                  <a:lnTo>
                    <a:pt x="2011680" y="91439"/>
                  </a:lnTo>
                  <a:lnTo>
                    <a:pt x="2004441" y="55994"/>
                  </a:lnTo>
                  <a:lnTo>
                    <a:pt x="1984768" y="26911"/>
                  </a:lnTo>
                  <a:lnTo>
                    <a:pt x="1955685" y="7238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DCB726DD-955A-474A-7FD0-C19F8B58FD1B}"/>
                </a:ext>
              </a:extLst>
            </p:cNvPr>
            <p:cNvSpPr/>
            <p:nvPr/>
          </p:nvSpPr>
          <p:spPr>
            <a:xfrm>
              <a:off x="274319" y="2989706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80" h="960120">
                  <a:moveTo>
                    <a:pt x="0" y="91439"/>
                  </a:moveTo>
                  <a:lnTo>
                    <a:pt x="7232" y="55994"/>
                  </a:lnTo>
                  <a:lnTo>
                    <a:pt x="26908" y="26911"/>
                  </a:lnTo>
                  <a:lnTo>
                    <a:pt x="55990" y="7238"/>
                  </a:lnTo>
                  <a:lnTo>
                    <a:pt x="91440" y="0"/>
                  </a:lnTo>
                  <a:lnTo>
                    <a:pt x="1920239" y="0"/>
                  </a:lnTo>
                  <a:lnTo>
                    <a:pt x="1955685" y="7238"/>
                  </a:lnTo>
                  <a:lnTo>
                    <a:pt x="1984768" y="26911"/>
                  </a:lnTo>
                  <a:lnTo>
                    <a:pt x="2004441" y="55994"/>
                  </a:lnTo>
                  <a:lnTo>
                    <a:pt x="2011680" y="91439"/>
                  </a:lnTo>
                  <a:lnTo>
                    <a:pt x="2011680" y="868679"/>
                  </a:lnTo>
                  <a:lnTo>
                    <a:pt x="2004441" y="904125"/>
                  </a:lnTo>
                  <a:lnTo>
                    <a:pt x="1984768" y="933208"/>
                  </a:lnTo>
                  <a:lnTo>
                    <a:pt x="1955685" y="952880"/>
                  </a:lnTo>
                  <a:lnTo>
                    <a:pt x="1920239" y="960120"/>
                  </a:lnTo>
                  <a:lnTo>
                    <a:pt x="91440" y="960120"/>
                  </a:lnTo>
                  <a:lnTo>
                    <a:pt x="55990" y="952880"/>
                  </a:lnTo>
                  <a:lnTo>
                    <a:pt x="26908" y="933208"/>
                  </a:lnTo>
                  <a:lnTo>
                    <a:pt x="7232" y="904125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9048">
              <a:solidFill>
                <a:srgbClr val="D0E4F3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0" name="object 28">
            <a:extLst>
              <a:ext uri="{FF2B5EF4-FFF2-40B4-BE49-F238E27FC236}">
                <a16:creationId xmlns:a16="http://schemas.microsoft.com/office/drawing/2014/main" id="{D8C0CBB7-449F-3BE5-A7F5-998DD4EF4C91}"/>
              </a:ext>
            </a:extLst>
          </p:cNvPr>
          <p:cNvSpPr txBox="1"/>
          <p:nvPr/>
        </p:nvSpPr>
        <p:spPr>
          <a:xfrm>
            <a:off x="757650" y="4461318"/>
            <a:ext cx="2173876" cy="93529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3498">
              <a:spcBef>
                <a:spcPts val="133"/>
              </a:spcBef>
            </a:pP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</a:t>
            </a:r>
            <a:r>
              <a:rPr sz="2400" b="1" spc="-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RPS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6933">
              <a:spcBef>
                <a:spcPts val="1433"/>
              </a:spcBef>
            </a:pP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sz="2400" spc="-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сценарий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1" name="object 29">
            <a:extLst>
              <a:ext uri="{FF2B5EF4-FFF2-40B4-BE49-F238E27FC236}">
                <a16:creationId xmlns:a16="http://schemas.microsoft.com/office/drawing/2014/main" id="{FE9D51B2-DA07-0BD6-7282-9DDC4011DB14}"/>
              </a:ext>
            </a:extLst>
          </p:cNvPr>
          <p:cNvGrpSpPr/>
          <p:nvPr/>
        </p:nvGrpSpPr>
        <p:grpSpPr>
          <a:xfrm>
            <a:off x="3255197" y="4341877"/>
            <a:ext cx="2732193" cy="1330113"/>
            <a:chOff x="2441397" y="2980182"/>
            <a:chExt cx="2049145" cy="997585"/>
          </a:xfrm>
        </p:grpSpPr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804A830F-6508-632F-AF90-DEC439C0AEE9}"/>
                </a:ext>
              </a:extLst>
            </p:cNvPr>
            <p:cNvSpPr/>
            <p:nvPr/>
          </p:nvSpPr>
          <p:spPr>
            <a:xfrm>
              <a:off x="2441397" y="2998139"/>
              <a:ext cx="2030730" cy="979169"/>
            </a:xfrm>
            <a:custGeom>
              <a:avLst/>
              <a:gdLst/>
              <a:ahLst/>
              <a:cxnLst/>
              <a:rect l="l" t="t" r="r" b="b"/>
              <a:pathLst>
                <a:path w="2030729" h="979170">
                  <a:moveTo>
                    <a:pt x="1937473" y="0"/>
                  </a:moveTo>
                  <a:lnTo>
                    <a:pt x="93254" y="0"/>
                  </a:lnTo>
                  <a:lnTo>
                    <a:pt x="57101" y="7378"/>
                  </a:lnTo>
                  <a:lnTo>
                    <a:pt x="27442" y="27444"/>
                  </a:lnTo>
                  <a:lnTo>
                    <a:pt x="7376" y="57099"/>
                  </a:lnTo>
                  <a:lnTo>
                    <a:pt x="0" y="93256"/>
                  </a:lnTo>
                  <a:lnTo>
                    <a:pt x="0" y="885913"/>
                  </a:lnTo>
                  <a:lnTo>
                    <a:pt x="7376" y="922070"/>
                  </a:lnTo>
                  <a:lnTo>
                    <a:pt x="27442" y="951725"/>
                  </a:lnTo>
                  <a:lnTo>
                    <a:pt x="57101" y="971791"/>
                  </a:lnTo>
                  <a:lnTo>
                    <a:pt x="93254" y="979170"/>
                  </a:lnTo>
                  <a:lnTo>
                    <a:pt x="1937473" y="979170"/>
                  </a:lnTo>
                  <a:lnTo>
                    <a:pt x="1973630" y="971791"/>
                  </a:lnTo>
                  <a:lnTo>
                    <a:pt x="2003285" y="951725"/>
                  </a:lnTo>
                  <a:lnTo>
                    <a:pt x="2023351" y="922070"/>
                  </a:lnTo>
                  <a:lnTo>
                    <a:pt x="2030730" y="885913"/>
                  </a:lnTo>
                  <a:lnTo>
                    <a:pt x="2030730" y="93256"/>
                  </a:lnTo>
                  <a:lnTo>
                    <a:pt x="2023351" y="57099"/>
                  </a:lnTo>
                  <a:lnTo>
                    <a:pt x="2003285" y="27444"/>
                  </a:lnTo>
                  <a:lnTo>
                    <a:pt x="1973630" y="7378"/>
                  </a:lnTo>
                  <a:lnTo>
                    <a:pt x="1937473" y="0"/>
                  </a:lnTo>
                  <a:close/>
                </a:path>
              </a:pathLst>
            </a:custGeom>
            <a:solidFill>
              <a:srgbClr val="000000">
                <a:alpha val="6274"/>
              </a:srgbClr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7FBE689A-FC97-62B0-E5C5-788E7267C783}"/>
                </a:ext>
              </a:extLst>
            </p:cNvPr>
            <p:cNvSpPr/>
            <p:nvPr/>
          </p:nvSpPr>
          <p:spPr>
            <a:xfrm>
              <a:off x="2468879" y="2989706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20">
                  <a:moveTo>
                    <a:pt x="1920239" y="0"/>
                  </a:moveTo>
                  <a:lnTo>
                    <a:pt x="91440" y="0"/>
                  </a:lnTo>
                  <a:lnTo>
                    <a:pt x="55990" y="7238"/>
                  </a:lnTo>
                  <a:lnTo>
                    <a:pt x="26908" y="26911"/>
                  </a:lnTo>
                  <a:lnTo>
                    <a:pt x="7232" y="55994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232" y="904125"/>
                  </a:lnTo>
                  <a:lnTo>
                    <a:pt x="26908" y="933208"/>
                  </a:lnTo>
                  <a:lnTo>
                    <a:pt x="55990" y="952880"/>
                  </a:lnTo>
                  <a:lnTo>
                    <a:pt x="91440" y="960120"/>
                  </a:lnTo>
                  <a:lnTo>
                    <a:pt x="1920239" y="960120"/>
                  </a:lnTo>
                  <a:lnTo>
                    <a:pt x="1955685" y="952880"/>
                  </a:lnTo>
                  <a:lnTo>
                    <a:pt x="1984768" y="933208"/>
                  </a:lnTo>
                  <a:lnTo>
                    <a:pt x="2004441" y="904125"/>
                  </a:lnTo>
                  <a:lnTo>
                    <a:pt x="2011680" y="868679"/>
                  </a:lnTo>
                  <a:lnTo>
                    <a:pt x="2011680" y="91439"/>
                  </a:lnTo>
                  <a:lnTo>
                    <a:pt x="2004441" y="55994"/>
                  </a:lnTo>
                  <a:lnTo>
                    <a:pt x="1984768" y="26911"/>
                  </a:lnTo>
                  <a:lnTo>
                    <a:pt x="1955685" y="7238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16B8D2B1-2B39-37E3-5373-660DD196A79D}"/>
                </a:ext>
              </a:extLst>
            </p:cNvPr>
            <p:cNvSpPr/>
            <p:nvPr/>
          </p:nvSpPr>
          <p:spPr>
            <a:xfrm>
              <a:off x="2468879" y="2989706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20">
                  <a:moveTo>
                    <a:pt x="0" y="91439"/>
                  </a:moveTo>
                  <a:lnTo>
                    <a:pt x="7232" y="55994"/>
                  </a:lnTo>
                  <a:lnTo>
                    <a:pt x="26908" y="26911"/>
                  </a:lnTo>
                  <a:lnTo>
                    <a:pt x="55990" y="7238"/>
                  </a:lnTo>
                  <a:lnTo>
                    <a:pt x="91440" y="0"/>
                  </a:lnTo>
                  <a:lnTo>
                    <a:pt x="1920239" y="0"/>
                  </a:lnTo>
                  <a:lnTo>
                    <a:pt x="1955685" y="7238"/>
                  </a:lnTo>
                  <a:lnTo>
                    <a:pt x="1984768" y="26911"/>
                  </a:lnTo>
                  <a:lnTo>
                    <a:pt x="2004441" y="55994"/>
                  </a:lnTo>
                  <a:lnTo>
                    <a:pt x="2011680" y="91439"/>
                  </a:lnTo>
                  <a:lnTo>
                    <a:pt x="2011680" y="868679"/>
                  </a:lnTo>
                  <a:lnTo>
                    <a:pt x="2004441" y="904125"/>
                  </a:lnTo>
                  <a:lnTo>
                    <a:pt x="1984768" y="933208"/>
                  </a:lnTo>
                  <a:lnTo>
                    <a:pt x="1955685" y="952880"/>
                  </a:lnTo>
                  <a:lnTo>
                    <a:pt x="1920239" y="960120"/>
                  </a:lnTo>
                  <a:lnTo>
                    <a:pt x="91440" y="960120"/>
                  </a:lnTo>
                  <a:lnTo>
                    <a:pt x="55990" y="952880"/>
                  </a:lnTo>
                  <a:lnTo>
                    <a:pt x="26908" y="933208"/>
                  </a:lnTo>
                  <a:lnTo>
                    <a:pt x="7232" y="904125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9048">
              <a:solidFill>
                <a:srgbClr val="D0E4F3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object 33">
            <a:extLst>
              <a:ext uri="{FF2B5EF4-FFF2-40B4-BE49-F238E27FC236}">
                <a16:creationId xmlns:a16="http://schemas.microsoft.com/office/drawing/2014/main" id="{F52F3697-D9A2-1C2C-F059-680C91706DCE}"/>
              </a:ext>
            </a:extLst>
          </p:cNvPr>
          <p:cNvSpPr txBox="1"/>
          <p:nvPr/>
        </p:nvSpPr>
        <p:spPr>
          <a:xfrm>
            <a:off x="3518414" y="4388984"/>
            <a:ext cx="2377921" cy="93529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spcBef>
                <a:spcPts val="133"/>
              </a:spcBef>
            </a:pP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1,8–9,5</a:t>
            </a:r>
            <a:r>
              <a:rPr sz="2400" b="1" spc="-5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944" algn="ctr">
              <a:spcBef>
                <a:spcPts val="1433"/>
              </a:spcBef>
            </a:pP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p95</a:t>
            </a:r>
            <a:r>
              <a:rPr sz="2400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</a:t>
            </a:r>
            <a:r>
              <a:rPr sz="2400" spc="-6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latency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6" name="object 34">
            <a:extLst>
              <a:ext uri="{FF2B5EF4-FFF2-40B4-BE49-F238E27FC236}">
                <a16:creationId xmlns:a16="http://schemas.microsoft.com/office/drawing/2014/main" id="{77BFAD02-F71F-EA9E-6063-28B211BCBDFF}"/>
              </a:ext>
            </a:extLst>
          </p:cNvPr>
          <p:cNvGrpSpPr/>
          <p:nvPr/>
        </p:nvGrpSpPr>
        <p:grpSpPr>
          <a:xfrm>
            <a:off x="6181277" y="4341877"/>
            <a:ext cx="2732193" cy="1330113"/>
            <a:chOff x="4635957" y="2980182"/>
            <a:chExt cx="2049145" cy="997585"/>
          </a:xfrm>
        </p:grpSpPr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F9705847-2D2E-B4D9-A813-9C202353618F}"/>
                </a:ext>
              </a:extLst>
            </p:cNvPr>
            <p:cNvSpPr/>
            <p:nvPr/>
          </p:nvSpPr>
          <p:spPr>
            <a:xfrm>
              <a:off x="4635957" y="2998139"/>
              <a:ext cx="2030730" cy="979169"/>
            </a:xfrm>
            <a:custGeom>
              <a:avLst/>
              <a:gdLst/>
              <a:ahLst/>
              <a:cxnLst/>
              <a:rect l="l" t="t" r="r" b="b"/>
              <a:pathLst>
                <a:path w="2030729" h="979170">
                  <a:moveTo>
                    <a:pt x="1937473" y="0"/>
                  </a:moveTo>
                  <a:lnTo>
                    <a:pt x="93254" y="0"/>
                  </a:lnTo>
                  <a:lnTo>
                    <a:pt x="57101" y="7378"/>
                  </a:lnTo>
                  <a:lnTo>
                    <a:pt x="27442" y="27444"/>
                  </a:lnTo>
                  <a:lnTo>
                    <a:pt x="7376" y="57099"/>
                  </a:lnTo>
                  <a:lnTo>
                    <a:pt x="0" y="93256"/>
                  </a:lnTo>
                  <a:lnTo>
                    <a:pt x="0" y="885913"/>
                  </a:lnTo>
                  <a:lnTo>
                    <a:pt x="7376" y="922070"/>
                  </a:lnTo>
                  <a:lnTo>
                    <a:pt x="27442" y="951725"/>
                  </a:lnTo>
                  <a:lnTo>
                    <a:pt x="57101" y="971791"/>
                  </a:lnTo>
                  <a:lnTo>
                    <a:pt x="93254" y="979170"/>
                  </a:lnTo>
                  <a:lnTo>
                    <a:pt x="1937473" y="979170"/>
                  </a:lnTo>
                  <a:lnTo>
                    <a:pt x="1973630" y="971791"/>
                  </a:lnTo>
                  <a:lnTo>
                    <a:pt x="2003285" y="951725"/>
                  </a:lnTo>
                  <a:lnTo>
                    <a:pt x="2023351" y="922070"/>
                  </a:lnTo>
                  <a:lnTo>
                    <a:pt x="2030730" y="885913"/>
                  </a:lnTo>
                  <a:lnTo>
                    <a:pt x="2030730" y="93256"/>
                  </a:lnTo>
                  <a:lnTo>
                    <a:pt x="2023351" y="57099"/>
                  </a:lnTo>
                  <a:lnTo>
                    <a:pt x="2003285" y="27444"/>
                  </a:lnTo>
                  <a:lnTo>
                    <a:pt x="1973630" y="7378"/>
                  </a:lnTo>
                  <a:lnTo>
                    <a:pt x="1937473" y="0"/>
                  </a:lnTo>
                  <a:close/>
                </a:path>
              </a:pathLst>
            </a:custGeom>
            <a:solidFill>
              <a:srgbClr val="000000">
                <a:alpha val="6274"/>
              </a:srgbClr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A934F209-CFA2-B251-B60E-53EACF59EE9E}"/>
                </a:ext>
              </a:extLst>
            </p:cNvPr>
            <p:cNvSpPr/>
            <p:nvPr/>
          </p:nvSpPr>
          <p:spPr>
            <a:xfrm>
              <a:off x="4663440" y="2989706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20">
                  <a:moveTo>
                    <a:pt x="1920239" y="0"/>
                  </a:moveTo>
                  <a:lnTo>
                    <a:pt x="91440" y="0"/>
                  </a:lnTo>
                  <a:lnTo>
                    <a:pt x="55990" y="7238"/>
                  </a:lnTo>
                  <a:lnTo>
                    <a:pt x="26908" y="26911"/>
                  </a:lnTo>
                  <a:lnTo>
                    <a:pt x="7232" y="55994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232" y="904125"/>
                  </a:lnTo>
                  <a:lnTo>
                    <a:pt x="26908" y="933208"/>
                  </a:lnTo>
                  <a:lnTo>
                    <a:pt x="55990" y="952880"/>
                  </a:lnTo>
                  <a:lnTo>
                    <a:pt x="91440" y="960120"/>
                  </a:lnTo>
                  <a:lnTo>
                    <a:pt x="1920239" y="960120"/>
                  </a:lnTo>
                  <a:lnTo>
                    <a:pt x="1955685" y="952880"/>
                  </a:lnTo>
                  <a:lnTo>
                    <a:pt x="1984768" y="933208"/>
                  </a:lnTo>
                  <a:lnTo>
                    <a:pt x="2004441" y="904125"/>
                  </a:lnTo>
                  <a:lnTo>
                    <a:pt x="2011680" y="868679"/>
                  </a:lnTo>
                  <a:lnTo>
                    <a:pt x="2011680" y="91439"/>
                  </a:lnTo>
                  <a:lnTo>
                    <a:pt x="2004441" y="55994"/>
                  </a:lnTo>
                  <a:lnTo>
                    <a:pt x="1984768" y="26911"/>
                  </a:lnTo>
                  <a:lnTo>
                    <a:pt x="1955685" y="7238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object 37">
              <a:extLst>
                <a:ext uri="{FF2B5EF4-FFF2-40B4-BE49-F238E27FC236}">
                  <a16:creationId xmlns:a16="http://schemas.microsoft.com/office/drawing/2014/main" id="{CFBB6212-C6C2-335A-0B75-AE9BF83C36AA}"/>
                </a:ext>
              </a:extLst>
            </p:cNvPr>
            <p:cNvSpPr/>
            <p:nvPr/>
          </p:nvSpPr>
          <p:spPr>
            <a:xfrm>
              <a:off x="4663440" y="2989706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20">
                  <a:moveTo>
                    <a:pt x="0" y="91439"/>
                  </a:moveTo>
                  <a:lnTo>
                    <a:pt x="7232" y="55994"/>
                  </a:lnTo>
                  <a:lnTo>
                    <a:pt x="26908" y="26911"/>
                  </a:lnTo>
                  <a:lnTo>
                    <a:pt x="55990" y="7238"/>
                  </a:lnTo>
                  <a:lnTo>
                    <a:pt x="91440" y="0"/>
                  </a:lnTo>
                  <a:lnTo>
                    <a:pt x="1920239" y="0"/>
                  </a:lnTo>
                  <a:lnTo>
                    <a:pt x="1955685" y="7238"/>
                  </a:lnTo>
                  <a:lnTo>
                    <a:pt x="1984768" y="26911"/>
                  </a:lnTo>
                  <a:lnTo>
                    <a:pt x="2004441" y="55994"/>
                  </a:lnTo>
                  <a:lnTo>
                    <a:pt x="2011680" y="91439"/>
                  </a:lnTo>
                  <a:lnTo>
                    <a:pt x="2011680" y="868679"/>
                  </a:lnTo>
                  <a:lnTo>
                    <a:pt x="2004441" y="904125"/>
                  </a:lnTo>
                  <a:lnTo>
                    <a:pt x="1984768" y="933208"/>
                  </a:lnTo>
                  <a:lnTo>
                    <a:pt x="1955685" y="952880"/>
                  </a:lnTo>
                  <a:lnTo>
                    <a:pt x="1920239" y="960120"/>
                  </a:lnTo>
                  <a:lnTo>
                    <a:pt x="91440" y="960120"/>
                  </a:lnTo>
                  <a:lnTo>
                    <a:pt x="55990" y="952880"/>
                  </a:lnTo>
                  <a:lnTo>
                    <a:pt x="26908" y="933208"/>
                  </a:lnTo>
                  <a:lnTo>
                    <a:pt x="7232" y="904125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9048">
              <a:solidFill>
                <a:srgbClr val="D0E4F3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0" name="object 38">
            <a:extLst>
              <a:ext uri="{FF2B5EF4-FFF2-40B4-BE49-F238E27FC236}">
                <a16:creationId xmlns:a16="http://schemas.microsoft.com/office/drawing/2014/main" id="{C1073094-025B-D8C0-5A8B-41F519CFA564}"/>
              </a:ext>
            </a:extLst>
          </p:cNvPr>
          <p:cNvSpPr txBox="1"/>
          <p:nvPr/>
        </p:nvSpPr>
        <p:spPr>
          <a:xfrm>
            <a:off x="6413164" y="4359872"/>
            <a:ext cx="2342727" cy="131745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87" algn="ctr">
              <a:spcBef>
                <a:spcPts val="133"/>
              </a:spcBef>
            </a:pP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320 </a:t>
            </a:r>
            <a:r>
              <a:rPr sz="2400" b="1" spc="-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мс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453"/>
              </a:spcBef>
            </a:pP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p95</a:t>
            </a:r>
            <a:r>
              <a:rPr sz="2400" spc="-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рекоменд.</a:t>
            </a:r>
            <a:r>
              <a:rPr sz="2400" spc="-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(cache</a:t>
            </a:r>
            <a:r>
              <a:rPr sz="2400" spc="-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miss)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1" name="object 39">
            <a:extLst>
              <a:ext uri="{FF2B5EF4-FFF2-40B4-BE49-F238E27FC236}">
                <a16:creationId xmlns:a16="http://schemas.microsoft.com/office/drawing/2014/main" id="{EB70F496-54B8-BA16-5636-DF0C2325B3F3}"/>
              </a:ext>
            </a:extLst>
          </p:cNvPr>
          <p:cNvGrpSpPr/>
          <p:nvPr/>
        </p:nvGrpSpPr>
        <p:grpSpPr>
          <a:xfrm>
            <a:off x="9107357" y="4341877"/>
            <a:ext cx="2732193" cy="1330113"/>
            <a:chOff x="6830517" y="2980182"/>
            <a:chExt cx="2049145" cy="997585"/>
          </a:xfrm>
        </p:grpSpPr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D2E88C8B-2BAB-88BF-00A9-0BF15EB775EE}"/>
                </a:ext>
              </a:extLst>
            </p:cNvPr>
            <p:cNvSpPr/>
            <p:nvPr/>
          </p:nvSpPr>
          <p:spPr>
            <a:xfrm>
              <a:off x="6830517" y="2998139"/>
              <a:ext cx="2030730" cy="979169"/>
            </a:xfrm>
            <a:custGeom>
              <a:avLst/>
              <a:gdLst/>
              <a:ahLst/>
              <a:cxnLst/>
              <a:rect l="l" t="t" r="r" b="b"/>
              <a:pathLst>
                <a:path w="2030729" h="979170">
                  <a:moveTo>
                    <a:pt x="1937473" y="0"/>
                  </a:moveTo>
                  <a:lnTo>
                    <a:pt x="93254" y="0"/>
                  </a:lnTo>
                  <a:lnTo>
                    <a:pt x="57101" y="7378"/>
                  </a:lnTo>
                  <a:lnTo>
                    <a:pt x="27442" y="27444"/>
                  </a:lnTo>
                  <a:lnTo>
                    <a:pt x="7376" y="57099"/>
                  </a:lnTo>
                  <a:lnTo>
                    <a:pt x="0" y="93256"/>
                  </a:lnTo>
                  <a:lnTo>
                    <a:pt x="0" y="885913"/>
                  </a:lnTo>
                  <a:lnTo>
                    <a:pt x="7376" y="922070"/>
                  </a:lnTo>
                  <a:lnTo>
                    <a:pt x="27442" y="951725"/>
                  </a:lnTo>
                  <a:lnTo>
                    <a:pt x="57101" y="971791"/>
                  </a:lnTo>
                  <a:lnTo>
                    <a:pt x="93254" y="979170"/>
                  </a:lnTo>
                  <a:lnTo>
                    <a:pt x="1937473" y="979170"/>
                  </a:lnTo>
                  <a:lnTo>
                    <a:pt x="1973630" y="971791"/>
                  </a:lnTo>
                  <a:lnTo>
                    <a:pt x="2003285" y="951725"/>
                  </a:lnTo>
                  <a:lnTo>
                    <a:pt x="2023351" y="922070"/>
                  </a:lnTo>
                  <a:lnTo>
                    <a:pt x="2030730" y="885913"/>
                  </a:lnTo>
                  <a:lnTo>
                    <a:pt x="2030730" y="93256"/>
                  </a:lnTo>
                  <a:lnTo>
                    <a:pt x="2023351" y="57099"/>
                  </a:lnTo>
                  <a:lnTo>
                    <a:pt x="2003285" y="27444"/>
                  </a:lnTo>
                  <a:lnTo>
                    <a:pt x="1973630" y="7378"/>
                  </a:lnTo>
                  <a:lnTo>
                    <a:pt x="1937473" y="0"/>
                  </a:lnTo>
                  <a:close/>
                </a:path>
              </a:pathLst>
            </a:custGeom>
            <a:solidFill>
              <a:srgbClr val="000000">
                <a:alpha val="6274"/>
              </a:srgbClr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4CCAA304-F470-80A3-7AE3-DAB3ECDFA70A}"/>
                </a:ext>
              </a:extLst>
            </p:cNvPr>
            <p:cNvSpPr/>
            <p:nvPr/>
          </p:nvSpPr>
          <p:spPr>
            <a:xfrm>
              <a:off x="6857999" y="2989706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20">
                  <a:moveTo>
                    <a:pt x="1920239" y="0"/>
                  </a:moveTo>
                  <a:lnTo>
                    <a:pt x="91440" y="0"/>
                  </a:lnTo>
                  <a:lnTo>
                    <a:pt x="55990" y="7238"/>
                  </a:lnTo>
                  <a:lnTo>
                    <a:pt x="26908" y="26911"/>
                  </a:lnTo>
                  <a:lnTo>
                    <a:pt x="7232" y="55994"/>
                  </a:lnTo>
                  <a:lnTo>
                    <a:pt x="0" y="91439"/>
                  </a:lnTo>
                  <a:lnTo>
                    <a:pt x="0" y="868679"/>
                  </a:lnTo>
                  <a:lnTo>
                    <a:pt x="7232" y="904125"/>
                  </a:lnTo>
                  <a:lnTo>
                    <a:pt x="26908" y="933208"/>
                  </a:lnTo>
                  <a:lnTo>
                    <a:pt x="55990" y="952880"/>
                  </a:lnTo>
                  <a:lnTo>
                    <a:pt x="91440" y="960120"/>
                  </a:lnTo>
                  <a:lnTo>
                    <a:pt x="1920239" y="960120"/>
                  </a:lnTo>
                  <a:lnTo>
                    <a:pt x="1955685" y="952880"/>
                  </a:lnTo>
                  <a:lnTo>
                    <a:pt x="1984768" y="933208"/>
                  </a:lnTo>
                  <a:lnTo>
                    <a:pt x="2004441" y="904125"/>
                  </a:lnTo>
                  <a:lnTo>
                    <a:pt x="2011680" y="868679"/>
                  </a:lnTo>
                  <a:lnTo>
                    <a:pt x="2011680" y="91439"/>
                  </a:lnTo>
                  <a:lnTo>
                    <a:pt x="2004441" y="55994"/>
                  </a:lnTo>
                  <a:lnTo>
                    <a:pt x="1984768" y="26911"/>
                  </a:lnTo>
                  <a:lnTo>
                    <a:pt x="1955685" y="7238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object 42">
              <a:extLst>
                <a:ext uri="{FF2B5EF4-FFF2-40B4-BE49-F238E27FC236}">
                  <a16:creationId xmlns:a16="http://schemas.microsoft.com/office/drawing/2014/main" id="{869467A1-65B7-24A7-01CB-8B325AC087C2}"/>
                </a:ext>
              </a:extLst>
            </p:cNvPr>
            <p:cNvSpPr/>
            <p:nvPr/>
          </p:nvSpPr>
          <p:spPr>
            <a:xfrm>
              <a:off x="6857999" y="2989706"/>
              <a:ext cx="2011680" cy="960119"/>
            </a:xfrm>
            <a:custGeom>
              <a:avLst/>
              <a:gdLst/>
              <a:ahLst/>
              <a:cxnLst/>
              <a:rect l="l" t="t" r="r" b="b"/>
              <a:pathLst>
                <a:path w="2011679" h="960120">
                  <a:moveTo>
                    <a:pt x="0" y="91439"/>
                  </a:moveTo>
                  <a:lnTo>
                    <a:pt x="7232" y="55994"/>
                  </a:lnTo>
                  <a:lnTo>
                    <a:pt x="26908" y="26911"/>
                  </a:lnTo>
                  <a:lnTo>
                    <a:pt x="55990" y="7238"/>
                  </a:lnTo>
                  <a:lnTo>
                    <a:pt x="91440" y="0"/>
                  </a:lnTo>
                  <a:lnTo>
                    <a:pt x="1920239" y="0"/>
                  </a:lnTo>
                  <a:lnTo>
                    <a:pt x="1955685" y="7238"/>
                  </a:lnTo>
                  <a:lnTo>
                    <a:pt x="1984768" y="26911"/>
                  </a:lnTo>
                  <a:lnTo>
                    <a:pt x="2004441" y="55994"/>
                  </a:lnTo>
                  <a:lnTo>
                    <a:pt x="2011680" y="91439"/>
                  </a:lnTo>
                  <a:lnTo>
                    <a:pt x="2011680" y="868679"/>
                  </a:lnTo>
                  <a:lnTo>
                    <a:pt x="2004441" y="904125"/>
                  </a:lnTo>
                  <a:lnTo>
                    <a:pt x="1984768" y="933208"/>
                  </a:lnTo>
                  <a:lnTo>
                    <a:pt x="1955685" y="952880"/>
                  </a:lnTo>
                  <a:lnTo>
                    <a:pt x="1920239" y="960120"/>
                  </a:lnTo>
                  <a:lnTo>
                    <a:pt x="91440" y="960120"/>
                  </a:lnTo>
                  <a:lnTo>
                    <a:pt x="55990" y="952880"/>
                  </a:lnTo>
                  <a:lnTo>
                    <a:pt x="26908" y="933208"/>
                  </a:lnTo>
                  <a:lnTo>
                    <a:pt x="7232" y="904125"/>
                  </a:lnTo>
                  <a:lnTo>
                    <a:pt x="0" y="868679"/>
                  </a:lnTo>
                  <a:lnTo>
                    <a:pt x="0" y="91439"/>
                  </a:lnTo>
                  <a:close/>
                </a:path>
              </a:pathLst>
            </a:custGeom>
            <a:ln w="19048">
              <a:solidFill>
                <a:srgbClr val="D0E4F3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5" name="object 43">
            <a:extLst>
              <a:ext uri="{FF2B5EF4-FFF2-40B4-BE49-F238E27FC236}">
                <a16:creationId xmlns:a16="http://schemas.microsoft.com/office/drawing/2014/main" id="{B6647D31-9E18-A87B-F6F2-B416DD38265C}"/>
              </a:ext>
            </a:extLst>
          </p:cNvPr>
          <p:cNvSpPr txBox="1"/>
          <p:nvPr/>
        </p:nvSpPr>
        <p:spPr>
          <a:xfrm>
            <a:off x="9204791" y="4388985"/>
            <a:ext cx="2646850" cy="93529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540" algn="ctr">
              <a:spcBef>
                <a:spcPts val="133"/>
              </a:spcBef>
            </a:pPr>
            <a:r>
              <a:rPr sz="2400" b="1" spc="-3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68%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433"/>
              </a:spcBef>
            </a:pPr>
            <a:r>
              <a:rPr sz="2400" spc="-1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</a:t>
            </a:r>
            <a:r>
              <a:rPr sz="2400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hit</a:t>
            </a:r>
            <a:r>
              <a:rPr sz="2400" spc="-4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рекоменд.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Номер слайда 47">
            <a:extLst>
              <a:ext uri="{FF2B5EF4-FFF2-40B4-BE49-F238E27FC236}">
                <a16:creationId xmlns:a16="http://schemas.microsoft.com/office/drawing/2014/main" id="{1D5649C1-B321-4640-4C49-D68AA7F5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230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6144-2E2B-F4A5-7866-97838727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EFC08-6174-3767-3AFA-5689F0B88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850"/>
            <a:ext cx="12338050" cy="1111251"/>
          </a:xfrm>
        </p:spPr>
        <p:txBody>
          <a:bodyPr>
            <a:noAutofit/>
          </a:bodyPr>
          <a:lstStyle/>
          <a:p>
            <a:r>
              <a:rPr lang="ru-RU" b="1" dirty="0"/>
              <a:t>Качество</a:t>
            </a:r>
            <a:r>
              <a:rPr lang="ru-RU" b="1" spc="-120" dirty="0"/>
              <a:t> </a:t>
            </a:r>
            <a:r>
              <a:rPr lang="en-US" b="1" spc="-27" dirty="0"/>
              <a:t>AI-</a:t>
            </a:r>
            <a:r>
              <a:rPr lang="ru-RU" b="1" dirty="0"/>
              <a:t>ответов</a:t>
            </a:r>
            <a:endParaRPr lang="ru-RU" sz="4800" b="1" dirty="0"/>
          </a:p>
        </p:txBody>
      </p:sp>
      <p:grpSp>
        <p:nvGrpSpPr>
          <p:cNvPr id="3" name="object 6">
            <a:extLst>
              <a:ext uri="{FF2B5EF4-FFF2-40B4-BE49-F238E27FC236}">
                <a16:creationId xmlns:a16="http://schemas.microsoft.com/office/drawing/2014/main" id="{10DD1399-2927-921E-D1AF-5C47290B6A60}"/>
              </a:ext>
            </a:extLst>
          </p:cNvPr>
          <p:cNvGrpSpPr/>
          <p:nvPr/>
        </p:nvGrpSpPr>
        <p:grpSpPr>
          <a:xfrm>
            <a:off x="487677" y="1988363"/>
            <a:ext cx="6705600" cy="3681307"/>
            <a:chOff x="365758" y="1491272"/>
            <a:chExt cx="5029200" cy="2760980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BB24A241-A3D8-FE08-6459-663DC082DC75}"/>
                </a:ext>
              </a:extLst>
            </p:cNvPr>
            <p:cNvSpPr/>
            <p:nvPr/>
          </p:nvSpPr>
          <p:spPr>
            <a:xfrm>
              <a:off x="365758" y="1491272"/>
              <a:ext cx="5029200" cy="2760980"/>
            </a:xfrm>
            <a:custGeom>
              <a:avLst/>
              <a:gdLst/>
              <a:ahLst/>
              <a:cxnLst/>
              <a:rect l="l" t="t" r="r" b="b"/>
              <a:pathLst>
                <a:path w="5029200" h="2760979">
                  <a:moveTo>
                    <a:pt x="5029200" y="0"/>
                  </a:moveTo>
                  <a:lnTo>
                    <a:pt x="0" y="0"/>
                  </a:lnTo>
                  <a:lnTo>
                    <a:pt x="0" y="2760687"/>
                  </a:lnTo>
                  <a:lnTo>
                    <a:pt x="5029200" y="2760687"/>
                  </a:lnTo>
                  <a:lnTo>
                    <a:pt x="5029200" y="0"/>
                  </a:lnTo>
                  <a:close/>
                </a:path>
              </a:pathLst>
            </a:custGeom>
            <a:solidFill>
              <a:srgbClr val="EDF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C6AA07A-9EB2-C79F-C2C4-D5D1BBA1B8F8}"/>
                </a:ext>
              </a:extLst>
            </p:cNvPr>
            <p:cNvSpPr/>
            <p:nvPr/>
          </p:nvSpPr>
          <p:spPr>
            <a:xfrm>
              <a:off x="1537766" y="1547914"/>
              <a:ext cx="0" cy="2339975"/>
            </a:xfrm>
            <a:custGeom>
              <a:avLst/>
              <a:gdLst/>
              <a:ahLst/>
              <a:cxnLst/>
              <a:rect l="l" t="t" r="r" b="b"/>
              <a:pathLst>
                <a:path h="2339975">
                  <a:moveTo>
                    <a:pt x="0" y="0"/>
                  </a:moveTo>
                  <a:lnTo>
                    <a:pt x="0" y="2339784"/>
                  </a:lnTo>
                </a:path>
              </a:pathLst>
            </a:custGeom>
            <a:ln w="6348">
              <a:solidFill>
                <a:srgbClr val="E0E6F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4ED3266E-DFA2-0220-DA7D-B1A68AD834A0}"/>
                </a:ext>
              </a:extLst>
            </p:cNvPr>
            <p:cNvSpPr/>
            <p:nvPr/>
          </p:nvSpPr>
          <p:spPr>
            <a:xfrm>
              <a:off x="2263254" y="1547914"/>
              <a:ext cx="725805" cy="2339975"/>
            </a:xfrm>
            <a:custGeom>
              <a:avLst/>
              <a:gdLst/>
              <a:ahLst/>
              <a:cxnLst/>
              <a:rect l="l" t="t" r="r" b="b"/>
              <a:pathLst>
                <a:path w="725805" h="2339975">
                  <a:moveTo>
                    <a:pt x="0" y="2164308"/>
                  </a:moveTo>
                  <a:lnTo>
                    <a:pt x="0" y="2339784"/>
                  </a:lnTo>
                </a:path>
                <a:path w="725805" h="2339975">
                  <a:moveTo>
                    <a:pt x="0" y="1579359"/>
                  </a:moveTo>
                  <a:lnTo>
                    <a:pt x="0" y="1930323"/>
                  </a:lnTo>
                </a:path>
                <a:path w="725805" h="2339975">
                  <a:moveTo>
                    <a:pt x="0" y="994410"/>
                  </a:moveTo>
                  <a:lnTo>
                    <a:pt x="0" y="1345387"/>
                  </a:lnTo>
                </a:path>
                <a:path w="725805" h="2339975">
                  <a:moveTo>
                    <a:pt x="0" y="409473"/>
                  </a:moveTo>
                  <a:lnTo>
                    <a:pt x="0" y="760437"/>
                  </a:lnTo>
                </a:path>
                <a:path w="725805" h="2339975">
                  <a:moveTo>
                    <a:pt x="0" y="0"/>
                  </a:moveTo>
                  <a:lnTo>
                    <a:pt x="0" y="175488"/>
                  </a:lnTo>
                </a:path>
                <a:path w="725805" h="2339975">
                  <a:moveTo>
                    <a:pt x="725473" y="2164308"/>
                  </a:moveTo>
                  <a:lnTo>
                    <a:pt x="725473" y="2339784"/>
                  </a:lnTo>
                </a:path>
                <a:path w="725805" h="2339975">
                  <a:moveTo>
                    <a:pt x="725473" y="1579359"/>
                  </a:moveTo>
                  <a:lnTo>
                    <a:pt x="725473" y="1930323"/>
                  </a:lnTo>
                </a:path>
                <a:path w="725805" h="2339975">
                  <a:moveTo>
                    <a:pt x="725473" y="994410"/>
                  </a:moveTo>
                  <a:lnTo>
                    <a:pt x="725473" y="1345387"/>
                  </a:lnTo>
                </a:path>
                <a:path w="725805" h="2339975">
                  <a:moveTo>
                    <a:pt x="725473" y="409473"/>
                  </a:moveTo>
                  <a:lnTo>
                    <a:pt x="725473" y="760437"/>
                  </a:lnTo>
                </a:path>
                <a:path w="725805" h="2339975">
                  <a:moveTo>
                    <a:pt x="725473" y="0"/>
                  </a:moveTo>
                  <a:lnTo>
                    <a:pt x="725473" y="175488"/>
                  </a:lnTo>
                </a:path>
              </a:pathLst>
            </a:custGeom>
            <a:ln w="6348">
              <a:solidFill>
                <a:srgbClr val="E0E6F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05A00B61-5680-F118-90C0-BA8E04820835}"/>
                </a:ext>
              </a:extLst>
            </p:cNvPr>
            <p:cNvSpPr/>
            <p:nvPr/>
          </p:nvSpPr>
          <p:spPr>
            <a:xfrm>
              <a:off x="3714216" y="1547914"/>
              <a:ext cx="725805" cy="2339975"/>
            </a:xfrm>
            <a:custGeom>
              <a:avLst/>
              <a:gdLst/>
              <a:ahLst/>
              <a:cxnLst/>
              <a:rect l="l" t="t" r="r" b="b"/>
              <a:pathLst>
                <a:path w="725804" h="2339975">
                  <a:moveTo>
                    <a:pt x="0" y="2164308"/>
                  </a:moveTo>
                  <a:lnTo>
                    <a:pt x="0" y="2339784"/>
                  </a:lnTo>
                </a:path>
                <a:path w="725804" h="2339975">
                  <a:moveTo>
                    <a:pt x="0" y="1579359"/>
                  </a:moveTo>
                  <a:lnTo>
                    <a:pt x="0" y="1930323"/>
                  </a:lnTo>
                </a:path>
                <a:path w="725804" h="2339975">
                  <a:moveTo>
                    <a:pt x="0" y="994410"/>
                  </a:moveTo>
                  <a:lnTo>
                    <a:pt x="0" y="1345387"/>
                  </a:lnTo>
                </a:path>
                <a:path w="725804" h="2339975">
                  <a:moveTo>
                    <a:pt x="0" y="409473"/>
                  </a:moveTo>
                  <a:lnTo>
                    <a:pt x="0" y="760437"/>
                  </a:lnTo>
                </a:path>
                <a:path w="725804" h="2339975">
                  <a:moveTo>
                    <a:pt x="0" y="0"/>
                  </a:moveTo>
                  <a:lnTo>
                    <a:pt x="0" y="175488"/>
                  </a:lnTo>
                </a:path>
                <a:path w="725804" h="2339975">
                  <a:moveTo>
                    <a:pt x="725487" y="2164308"/>
                  </a:moveTo>
                  <a:lnTo>
                    <a:pt x="725487" y="2339784"/>
                  </a:lnTo>
                </a:path>
                <a:path w="725804" h="2339975">
                  <a:moveTo>
                    <a:pt x="725487" y="994410"/>
                  </a:moveTo>
                  <a:lnTo>
                    <a:pt x="725487" y="1930323"/>
                  </a:lnTo>
                </a:path>
                <a:path w="725804" h="2339975">
                  <a:moveTo>
                    <a:pt x="725487" y="409473"/>
                  </a:moveTo>
                  <a:lnTo>
                    <a:pt x="725487" y="760437"/>
                  </a:lnTo>
                </a:path>
                <a:path w="725804" h="2339975">
                  <a:moveTo>
                    <a:pt x="725487" y="0"/>
                  </a:moveTo>
                  <a:lnTo>
                    <a:pt x="725487" y="175488"/>
                  </a:lnTo>
                </a:path>
              </a:pathLst>
            </a:custGeom>
            <a:ln w="6348">
              <a:solidFill>
                <a:srgbClr val="E0E6F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9A9F3B46-8305-D1C0-06D2-B41C598FF393}"/>
                </a:ext>
              </a:extLst>
            </p:cNvPr>
            <p:cNvSpPr/>
            <p:nvPr/>
          </p:nvSpPr>
          <p:spPr>
            <a:xfrm>
              <a:off x="5165191" y="1547914"/>
              <a:ext cx="0" cy="2339975"/>
            </a:xfrm>
            <a:custGeom>
              <a:avLst/>
              <a:gdLst/>
              <a:ahLst/>
              <a:cxnLst/>
              <a:rect l="l" t="t" r="r" b="b"/>
              <a:pathLst>
                <a:path h="2339975">
                  <a:moveTo>
                    <a:pt x="0" y="0"/>
                  </a:moveTo>
                  <a:lnTo>
                    <a:pt x="0" y="2339784"/>
                  </a:lnTo>
                </a:path>
              </a:pathLst>
            </a:custGeom>
            <a:ln w="6348">
              <a:solidFill>
                <a:srgbClr val="E0E6F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2079B77E-83DF-0BA8-FFDC-49A9C103A188}"/>
                </a:ext>
              </a:extLst>
            </p:cNvPr>
            <p:cNvSpPr/>
            <p:nvPr/>
          </p:nvSpPr>
          <p:spPr>
            <a:xfrm>
              <a:off x="1537754" y="1723389"/>
              <a:ext cx="3337560" cy="1988820"/>
            </a:xfrm>
            <a:custGeom>
              <a:avLst/>
              <a:gdLst/>
              <a:ahLst/>
              <a:cxnLst/>
              <a:rect l="l" t="t" r="r" b="b"/>
              <a:pathLst>
                <a:path w="3337560" h="1988820">
                  <a:moveTo>
                    <a:pt x="2829395" y="1169898"/>
                  </a:moveTo>
                  <a:lnTo>
                    <a:pt x="0" y="1169898"/>
                  </a:lnTo>
                  <a:lnTo>
                    <a:pt x="0" y="1403870"/>
                  </a:lnTo>
                  <a:lnTo>
                    <a:pt x="2829395" y="1403870"/>
                  </a:lnTo>
                  <a:lnTo>
                    <a:pt x="2829395" y="1169898"/>
                  </a:lnTo>
                  <a:close/>
                </a:path>
                <a:path w="3337560" h="1988820">
                  <a:moveTo>
                    <a:pt x="2938221" y="584949"/>
                  </a:moveTo>
                  <a:lnTo>
                    <a:pt x="0" y="584949"/>
                  </a:lnTo>
                  <a:lnTo>
                    <a:pt x="0" y="818921"/>
                  </a:lnTo>
                  <a:lnTo>
                    <a:pt x="2938221" y="818921"/>
                  </a:lnTo>
                  <a:lnTo>
                    <a:pt x="2938221" y="584949"/>
                  </a:lnTo>
                  <a:close/>
                </a:path>
                <a:path w="3337560" h="1988820">
                  <a:moveTo>
                    <a:pt x="3083318" y="1754835"/>
                  </a:moveTo>
                  <a:lnTo>
                    <a:pt x="0" y="1754835"/>
                  </a:lnTo>
                  <a:lnTo>
                    <a:pt x="0" y="1988820"/>
                  </a:lnTo>
                  <a:lnTo>
                    <a:pt x="3083318" y="1988820"/>
                  </a:lnTo>
                  <a:lnTo>
                    <a:pt x="3083318" y="1754835"/>
                  </a:lnTo>
                  <a:close/>
                </a:path>
                <a:path w="3337560" h="1988820">
                  <a:moveTo>
                    <a:pt x="3337242" y="0"/>
                  </a:moveTo>
                  <a:lnTo>
                    <a:pt x="0" y="0"/>
                  </a:lnTo>
                  <a:lnTo>
                    <a:pt x="0" y="233984"/>
                  </a:lnTo>
                  <a:lnTo>
                    <a:pt x="3337242" y="233984"/>
                  </a:lnTo>
                  <a:lnTo>
                    <a:pt x="3337242" y="0"/>
                  </a:lnTo>
                  <a:close/>
                </a:path>
              </a:pathLst>
            </a:custGeom>
            <a:solidFill>
              <a:srgbClr val="00B2D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C8429013-89BD-53AF-9D28-E78361A77B5F}"/>
                </a:ext>
              </a:extLst>
            </p:cNvPr>
            <p:cNvSpPr/>
            <p:nvPr/>
          </p:nvSpPr>
          <p:spPr>
            <a:xfrm>
              <a:off x="1490141" y="1547914"/>
              <a:ext cx="3675379" cy="2383790"/>
            </a:xfrm>
            <a:custGeom>
              <a:avLst/>
              <a:gdLst/>
              <a:ahLst/>
              <a:cxnLst/>
              <a:rect l="l" t="t" r="r" b="b"/>
              <a:pathLst>
                <a:path w="3675379" h="2383790">
                  <a:moveTo>
                    <a:pt x="47624" y="2339784"/>
                  </a:moveTo>
                  <a:lnTo>
                    <a:pt x="47624" y="0"/>
                  </a:lnTo>
                </a:path>
                <a:path w="3675379" h="2383790">
                  <a:moveTo>
                    <a:pt x="0" y="2339784"/>
                  </a:moveTo>
                  <a:lnTo>
                    <a:pt x="47624" y="2339784"/>
                  </a:lnTo>
                </a:path>
                <a:path w="3675379" h="2383790">
                  <a:moveTo>
                    <a:pt x="0" y="1754835"/>
                  </a:moveTo>
                  <a:lnTo>
                    <a:pt x="47624" y="1754835"/>
                  </a:lnTo>
                </a:path>
                <a:path w="3675379" h="2383790">
                  <a:moveTo>
                    <a:pt x="0" y="1169898"/>
                  </a:moveTo>
                  <a:lnTo>
                    <a:pt x="47624" y="1169898"/>
                  </a:lnTo>
                </a:path>
                <a:path w="3675379" h="2383790">
                  <a:moveTo>
                    <a:pt x="0" y="584949"/>
                  </a:moveTo>
                  <a:lnTo>
                    <a:pt x="47624" y="584949"/>
                  </a:lnTo>
                </a:path>
                <a:path w="3675379" h="2383790">
                  <a:moveTo>
                    <a:pt x="0" y="0"/>
                  </a:moveTo>
                  <a:lnTo>
                    <a:pt x="47624" y="0"/>
                  </a:lnTo>
                </a:path>
                <a:path w="3675379" h="2383790">
                  <a:moveTo>
                    <a:pt x="47624" y="2339784"/>
                  </a:moveTo>
                  <a:lnTo>
                    <a:pt x="3675049" y="2339784"/>
                  </a:lnTo>
                </a:path>
                <a:path w="3675379" h="2383790">
                  <a:moveTo>
                    <a:pt x="47624" y="2339784"/>
                  </a:moveTo>
                  <a:lnTo>
                    <a:pt x="47624" y="2383358"/>
                  </a:lnTo>
                </a:path>
                <a:path w="3675379" h="2383790">
                  <a:moveTo>
                    <a:pt x="773116" y="2339784"/>
                  </a:moveTo>
                  <a:lnTo>
                    <a:pt x="773116" y="2383358"/>
                  </a:lnTo>
                </a:path>
                <a:path w="3675379" h="2383790">
                  <a:moveTo>
                    <a:pt x="1498587" y="2339784"/>
                  </a:moveTo>
                  <a:lnTo>
                    <a:pt x="1498587" y="2383358"/>
                  </a:lnTo>
                </a:path>
                <a:path w="3675379" h="2383790">
                  <a:moveTo>
                    <a:pt x="2224074" y="2339784"/>
                  </a:moveTo>
                  <a:lnTo>
                    <a:pt x="2224074" y="2383358"/>
                  </a:lnTo>
                </a:path>
                <a:path w="3675379" h="2383790">
                  <a:moveTo>
                    <a:pt x="2949562" y="2339784"/>
                  </a:moveTo>
                  <a:lnTo>
                    <a:pt x="2949562" y="2383358"/>
                  </a:lnTo>
                </a:path>
                <a:path w="3675379" h="2383790">
                  <a:moveTo>
                    <a:pt x="3675049" y="2339784"/>
                  </a:moveTo>
                  <a:lnTo>
                    <a:pt x="3675049" y="2383358"/>
                  </a:lnTo>
                </a:path>
              </a:pathLst>
            </a:custGeom>
            <a:ln w="12698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4">
            <a:extLst>
              <a:ext uri="{FF2B5EF4-FFF2-40B4-BE49-F238E27FC236}">
                <a16:creationId xmlns:a16="http://schemas.microsoft.com/office/drawing/2014/main" id="{D1CF65EF-9011-BBE6-7041-C6193171BBA3}"/>
              </a:ext>
            </a:extLst>
          </p:cNvPr>
          <p:cNvSpPr txBox="1"/>
          <p:nvPr/>
        </p:nvSpPr>
        <p:spPr>
          <a:xfrm>
            <a:off x="6217463" y="4658529"/>
            <a:ext cx="23876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600" spc="-33" dirty="0">
                <a:solidFill>
                  <a:srgbClr val="0D172A"/>
                </a:solidFill>
                <a:latin typeface="Arial"/>
                <a:cs typeface="Arial"/>
              </a:rPr>
              <a:t>85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C3158ACC-6C03-4757-A71A-1806171195E6}"/>
              </a:ext>
            </a:extLst>
          </p:cNvPr>
          <p:cNvSpPr txBox="1"/>
          <p:nvPr/>
        </p:nvSpPr>
        <p:spPr>
          <a:xfrm>
            <a:off x="5915913" y="3864254"/>
            <a:ext cx="23876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600" spc="-33" dirty="0">
                <a:solidFill>
                  <a:srgbClr val="0D172A"/>
                </a:solidFill>
                <a:latin typeface="Arial"/>
                <a:cs typeface="Arial"/>
              </a:rPr>
              <a:t>78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9A8E5F14-037B-3BBB-0296-64463A3310AB}"/>
              </a:ext>
            </a:extLst>
          </p:cNvPr>
          <p:cNvSpPr txBox="1"/>
          <p:nvPr/>
        </p:nvSpPr>
        <p:spPr>
          <a:xfrm>
            <a:off x="6083096" y="3110908"/>
            <a:ext cx="23876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600" spc="-33" dirty="0">
                <a:solidFill>
                  <a:srgbClr val="0D172A"/>
                </a:solidFill>
                <a:latin typeface="Arial"/>
                <a:cs typeface="Arial"/>
              </a:rPr>
              <a:t>81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DD187F24-53C0-9547-2557-E3DF985D137E}"/>
              </a:ext>
            </a:extLst>
          </p:cNvPr>
          <p:cNvSpPr txBox="1"/>
          <p:nvPr/>
        </p:nvSpPr>
        <p:spPr>
          <a:xfrm>
            <a:off x="6563901" y="2348061"/>
            <a:ext cx="23876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600" spc="-33" dirty="0">
                <a:solidFill>
                  <a:srgbClr val="0D172A"/>
                </a:solidFill>
                <a:latin typeface="Arial"/>
                <a:cs typeface="Arial"/>
              </a:rPr>
              <a:t>92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70111B26-45CC-AD34-F16D-AD5F27AC6A63}"/>
              </a:ext>
            </a:extLst>
          </p:cNvPr>
          <p:cNvSpPr txBox="1"/>
          <p:nvPr/>
        </p:nvSpPr>
        <p:spPr>
          <a:xfrm>
            <a:off x="657059" y="4552053"/>
            <a:ext cx="1309792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>
              <a:spcBef>
                <a:spcPts val="133"/>
              </a:spcBef>
            </a:pPr>
            <a:r>
              <a:rPr sz="1467" spc="-27" dirty="0">
                <a:solidFill>
                  <a:srgbClr val="1E2739"/>
                </a:solidFill>
                <a:latin typeface="Arial"/>
                <a:cs typeface="Arial"/>
              </a:rPr>
              <a:t>Релевантность </a:t>
            </a:r>
            <a:r>
              <a:rPr sz="1467" spc="-13" dirty="0">
                <a:solidFill>
                  <a:srgbClr val="1E2739"/>
                </a:solidFill>
                <a:latin typeface="Arial"/>
                <a:cs typeface="Arial"/>
              </a:rPr>
              <a:t>контекста</a:t>
            </a:r>
            <a:endParaRPr sz="1467">
              <a:latin typeface="Arial"/>
              <a:cs typeface="Arial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C860384B-BEAC-788F-B529-738D096898D3}"/>
              </a:ext>
            </a:extLst>
          </p:cNvPr>
          <p:cNvSpPr txBox="1"/>
          <p:nvPr/>
        </p:nvSpPr>
        <p:spPr>
          <a:xfrm>
            <a:off x="1086639" y="3608950"/>
            <a:ext cx="882227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>
              <a:spcBef>
                <a:spcPts val="133"/>
              </a:spcBef>
            </a:pPr>
            <a:r>
              <a:rPr sz="1467" spc="-13" dirty="0">
                <a:solidFill>
                  <a:srgbClr val="1E2739"/>
                </a:solidFill>
                <a:latin typeface="Arial"/>
                <a:cs typeface="Arial"/>
              </a:rPr>
              <a:t>Точность </a:t>
            </a:r>
            <a:r>
              <a:rPr sz="1467" spc="-27" dirty="0">
                <a:solidFill>
                  <a:srgbClr val="1E2739"/>
                </a:solidFill>
                <a:latin typeface="Arial"/>
                <a:cs typeface="Arial"/>
              </a:rPr>
              <a:t>пересказа</a:t>
            </a:r>
            <a:endParaRPr sz="1467">
              <a:latin typeface="Arial"/>
              <a:cs typeface="Arial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6A1D163F-E884-FD70-17C6-80FD353D6BC2}"/>
              </a:ext>
            </a:extLst>
          </p:cNvPr>
          <p:cNvSpPr txBox="1"/>
          <p:nvPr/>
        </p:nvSpPr>
        <p:spPr>
          <a:xfrm>
            <a:off x="967873" y="2908063"/>
            <a:ext cx="988907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>
              <a:spcBef>
                <a:spcPts val="133"/>
              </a:spcBef>
            </a:pPr>
            <a:r>
              <a:rPr sz="1467" spc="-27" dirty="0">
                <a:solidFill>
                  <a:srgbClr val="1E2739"/>
                </a:solidFill>
                <a:latin typeface="Arial"/>
                <a:cs typeface="Arial"/>
              </a:rPr>
              <a:t>Отсутствие </a:t>
            </a:r>
            <a:r>
              <a:rPr sz="1467" spc="-13" dirty="0">
                <a:solidFill>
                  <a:srgbClr val="1E2739"/>
                </a:solidFill>
                <a:latin typeface="Arial"/>
                <a:cs typeface="Arial"/>
              </a:rPr>
              <a:t>выдумок</a:t>
            </a:r>
            <a:endParaRPr sz="1467">
              <a:latin typeface="Arial"/>
              <a:cs typeface="Arial"/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8790207B-5B66-7FD5-6DF9-A93039345DAF}"/>
              </a:ext>
            </a:extLst>
          </p:cNvPr>
          <p:cNvSpPr txBox="1"/>
          <p:nvPr/>
        </p:nvSpPr>
        <p:spPr>
          <a:xfrm>
            <a:off x="974647" y="2155342"/>
            <a:ext cx="976207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>
              <a:spcBef>
                <a:spcPts val="133"/>
              </a:spcBef>
            </a:pPr>
            <a:r>
              <a:rPr sz="1467" spc="-13" dirty="0">
                <a:solidFill>
                  <a:srgbClr val="1E2739"/>
                </a:solidFill>
                <a:latin typeface="Arial"/>
                <a:cs typeface="Arial"/>
              </a:rPr>
              <a:t>Наличие </a:t>
            </a:r>
            <a:r>
              <a:rPr sz="1467" spc="-27" dirty="0">
                <a:solidFill>
                  <a:srgbClr val="1E2739"/>
                </a:solidFill>
                <a:latin typeface="Arial"/>
                <a:cs typeface="Arial"/>
              </a:rPr>
              <a:t>источников</a:t>
            </a:r>
            <a:endParaRPr sz="1467">
              <a:latin typeface="Arial"/>
              <a:cs typeface="Arial"/>
            </a:endParaRPr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836BFF25-3947-C1D2-4E5D-5A42ECE00E90}"/>
              </a:ext>
            </a:extLst>
          </p:cNvPr>
          <p:cNvSpPr txBox="1"/>
          <p:nvPr/>
        </p:nvSpPr>
        <p:spPr>
          <a:xfrm>
            <a:off x="2003264" y="5276901"/>
            <a:ext cx="11176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333" spc="-67" dirty="0">
                <a:solidFill>
                  <a:srgbClr val="64728B"/>
                </a:solidFill>
                <a:latin typeface="Arial"/>
                <a:cs typeface="Arial"/>
              </a:rPr>
              <a:t>0</a:t>
            </a:r>
            <a:endParaRPr sz="1333">
              <a:latin typeface="Arial"/>
              <a:cs typeface="Arial"/>
            </a:endParaRPr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8E5AF730-4583-9B08-88AC-34AC0E7C95A9}"/>
              </a:ext>
            </a:extLst>
          </p:cNvPr>
          <p:cNvSpPr txBox="1"/>
          <p:nvPr/>
        </p:nvSpPr>
        <p:spPr>
          <a:xfrm>
            <a:off x="2923488" y="5276901"/>
            <a:ext cx="2015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333" spc="-33" dirty="0">
                <a:solidFill>
                  <a:srgbClr val="64728B"/>
                </a:solidFill>
                <a:latin typeface="Arial"/>
                <a:cs typeface="Arial"/>
              </a:rPr>
              <a:t>20</a:t>
            </a:r>
            <a:endParaRPr sz="1333">
              <a:latin typeface="Arial"/>
              <a:cs typeface="Arial"/>
            </a:endParaRPr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D0EC317E-B014-EED3-7042-ABBB0A59E644}"/>
              </a:ext>
            </a:extLst>
          </p:cNvPr>
          <p:cNvSpPr txBox="1"/>
          <p:nvPr/>
        </p:nvSpPr>
        <p:spPr>
          <a:xfrm>
            <a:off x="3890805" y="5276901"/>
            <a:ext cx="2015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333" spc="-33" dirty="0">
                <a:solidFill>
                  <a:srgbClr val="64728B"/>
                </a:solidFill>
                <a:latin typeface="Arial"/>
                <a:cs typeface="Arial"/>
              </a:rPr>
              <a:t>40</a:t>
            </a:r>
            <a:endParaRPr sz="1333">
              <a:latin typeface="Arial"/>
              <a:cs typeface="Arial"/>
            </a:endParaRPr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79826AD2-9E15-36C4-5D0E-42CDA87BD052}"/>
              </a:ext>
            </a:extLst>
          </p:cNvPr>
          <p:cNvSpPr txBox="1"/>
          <p:nvPr/>
        </p:nvSpPr>
        <p:spPr>
          <a:xfrm>
            <a:off x="4858121" y="5276901"/>
            <a:ext cx="2015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333" spc="-33" dirty="0">
                <a:solidFill>
                  <a:srgbClr val="64728B"/>
                </a:solidFill>
                <a:latin typeface="Arial"/>
                <a:cs typeface="Arial"/>
              </a:rPr>
              <a:t>60</a:t>
            </a:r>
            <a:endParaRPr sz="1333">
              <a:latin typeface="Arial"/>
              <a:cs typeface="Arial"/>
            </a:endParaRPr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94A6E8BA-CE5F-8336-46A2-643EEADDB191}"/>
              </a:ext>
            </a:extLst>
          </p:cNvPr>
          <p:cNvSpPr txBox="1"/>
          <p:nvPr/>
        </p:nvSpPr>
        <p:spPr>
          <a:xfrm>
            <a:off x="5825439" y="5276901"/>
            <a:ext cx="2015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333" spc="-33" dirty="0">
                <a:solidFill>
                  <a:srgbClr val="64728B"/>
                </a:solidFill>
                <a:latin typeface="Arial"/>
                <a:cs typeface="Arial"/>
              </a:rPr>
              <a:t>80</a:t>
            </a:r>
            <a:endParaRPr sz="1333">
              <a:latin typeface="Arial"/>
              <a:cs typeface="Arial"/>
            </a:endParaRPr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647E0B64-412D-F4A3-71B9-91FE48EE0CB4}"/>
              </a:ext>
            </a:extLst>
          </p:cNvPr>
          <p:cNvSpPr txBox="1"/>
          <p:nvPr/>
        </p:nvSpPr>
        <p:spPr>
          <a:xfrm>
            <a:off x="6745647" y="5276901"/>
            <a:ext cx="2912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333" spc="-33" dirty="0">
                <a:solidFill>
                  <a:srgbClr val="64728B"/>
                </a:solidFill>
                <a:latin typeface="Arial"/>
                <a:cs typeface="Arial"/>
              </a:rPr>
              <a:t>100</a:t>
            </a:r>
            <a:endParaRPr sz="1333">
              <a:latin typeface="Arial"/>
              <a:cs typeface="Arial"/>
            </a:endParaRPr>
          </a:p>
        </p:txBody>
      </p:sp>
      <p:sp>
        <p:nvSpPr>
          <p:cNvPr id="27" name="object 28">
            <a:extLst>
              <a:ext uri="{FF2B5EF4-FFF2-40B4-BE49-F238E27FC236}">
                <a16:creationId xmlns:a16="http://schemas.microsoft.com/office/drawing/2014/main" id="{7DC111EA-3BE9-9AE2-31AF-F70091725270}"/>
              </a:ext>
            </a:extLst>
          </p:cNvPr>
          <p:cNvSpPr txBox="1"/>
          <p:nvPr/>
        </p:nvSpPr>
        <p:spPr>
          <a:xfrm>
            <a:off x="7985844" y="1692564"/>
            <a:ext cx="4206155" cy="2931572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62556">
              <a:spcBef>
                <a:spcPts val="900"/>
              </a:spcBef>
            </a:pP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</a:t>
            </a:r>
            <a:r>
              <a:rPr sz="2400" b="1" spc="-53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</a:t>
            </a:r>
            <a:r>
              <a:rPr sz="2400" b="1" spc="-53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Ю</a:t>
            </a:r>
            <a:r>
              <a:rPr sz="2400" b="1" spc="-47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</a:t>
            </a:r>
            <a:r>
              <a:rPr sz="2400" b="1" spc="-53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</a:t>
            </a:r>
            <a:r>
              <a:rPr sz="2400" b="1" spc="-40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sz="2400" b="1" spc="-53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Ы</a:t>
            </a:r>
            <a:r>
              <a:rPr sz="2400" b="1" spc="-53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</a:t>
            </a:r>
            <a:r>
              <a:rPr sz="2400" b="1" spc="487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sz="2400" b="1" spc="-40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Ы</a:t>
            </a:r>
            <a:r>
              <a:rPr sz="2400" b="1" spc="-53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sz="2400" b="1" spc="-47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</a:t>
            </a:r>
            <a:r>
              <a:rPr sz="2400" b="1" spc="-53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</a:t>
            </a:r>
            <a:r>
              <a:rPr sz="2400" b="1" spc="-47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b="1" spc="-67" dirty="0">
                <a:solidFill>
                  <a:srgbClr val="0167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Ы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406" marR="555398">
              <a:spcBef>
                <a:spcPts val="873"/>
              </a:spcBef>
            </a:pPr>
            <a:r>
              <a:rPr sz="240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Наличие</a:t>
            </a:r>
            <a:r>
              <a:rPr sz="2400" spc="-87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источников</a:t>
            </a:r>
            <a:r>
              <a:rPr sz="2400" spc="-87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92%</a:t>
            </a:r>
            <a:r>
              <a:rPr sz="2400" spc="-8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67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sz="240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</a:t>
            </a:r>
            <a:r>
              <a:rPr sz="2400" spc="-6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корректно</a:t>
            </a:r>
            <a:r>
              <a:rPr sz="2400" spc="-67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цитирует фрагменты</a:t>
            </a:r>
            <a:r>
              <a:rPr sz="2400" spc="-27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текста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6933" marR="6773">
              <a:spcBef>
                <a:spcPts val="947"/>
              </a:spcBef>
            </a:pPr>
            <a:r>
              <a:rPr sz="2400" spc="-13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Релевантность</a:t>
            </a:r>
            <a:r>
              <a:rPr sz="2400" spc="-67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85%</a:t>
            </a:r>
            <a:r>
              <a:rPr sz="2400" spc="-53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r>
              <a:rPr sz="2400" spc="-47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гибридный </a:t>
            </a:r>
            <a:r>
              <a:rPr sz="2400" spc="-33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RRF-</a:t>
            </a:r>
            <a:r>
              <a:rPr sz="240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поиск</a:t>
            </a:r>
            <a:r>
              <a:rPr sz="2400" spc="-6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работает</a:t>
            </a:r>
            <a:r>
              <a:rPr sz="2400" spc="-40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надёжно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object 29">
            <a:extLst>
              <a:ext uri="{FF2B5EF4-FFF2-40B4-BE49-F238E27FC236}">
                <a16:creationId xmlns:a16="http://schemas.microsoft.com/office/drawing/2014/main" id="{C43A4CD3-BB13-2EDD-C4E3-EA86A2C0F3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872" y="2646788"/>
            <a:ext cx="341376" cy="341375"/>
          </a:xfrm>
          <a:prstGeom prst="rect">
            <a:avLst/>
          </a:prstGeom>
        </p:spPr>
      </p:pic>
      <p:pic>
        <p:nvPicPr>
          <p:cNvPr id="29" name="object 30">
            <a:extLst>
              <a:ext uri="{FF2B5EF4-FFF2-40B4-BE49-F238E27FC236}">
                <a16:creationId xmlns:a16="http://schemas.microsoft.com/office/drawing/2014/main" id="{7F5975AD-8A96-DE76-498F-EF713475CB7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9164" y="3906894"/>
            <a:ext cx="341376" cy="341376"/>
          </a:xfrm>
          <a:prstGeom prst="rect">
            <a:avLst/>
          </a:prstGeom>
        </p:spPr>
      </p:pic>
      <p:pic>
        <p:nvPicPr>
          <p:cNvPr id="30" name="object 31">
            <a:extLst>
              <a:ext uri="{FF2B5EF4-FFF2-40B4-BE49-F238E27FC236}">
                <a16:creationId xmlns:a16="http://schemas.microsoft.com/office/drawing/2014/main" id="{D11E9062-681E-EA55-A0A1-2EA7396C622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76276" y="5328294"/>
            <a:ext cx="341376" cy="341376"/>
          </a:xfrm>
          <a:prstGeom prst="rect">
            <a:avLst/>
          </a:prstGeom>
        </p:spPr>
      </p:pic>
      <p:sp>
        <p:nvSpPr>
          <p:cNvPr id="31" name="object 32">
            <a:extLst>
              <a:ext uri="{FF2B5EF4-FFF2-40B4-BE49-F238E27FC236}">
                <a16:creationId xmlns:a16="http://schemas.microsoft.com/office/drawing/2014/main" id="{CA6DEABB-2742-B6DD-5CBB-D1B5C9BD138A}"/>
              </a:ext>
            </a:extLst>
          </p:cNvPr>
          <p:cNvSpPr txBox="1"/>
          <p:nvPr/>
        </p:nvSpPr>
        <p:spPr>
          <a:xfrm>
            <a:off x="8100652" y="4921849"/>
            <a:ext cx="4548548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1E2739"/>
                </a:solidFill>
                <a:latin typeface="Calibri"/>
                <a:cs typeface="Calibri"/>
              </a:rPr>
              <a:t>Галлюцинации</a:t>
            </a:r>
            <a:r>
              <a:rPr sz="2400" spc="-100" dirty="0">
                <a:solidFill>
                  <a:srgbClr val="1E2739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/>
                <a:cs typeface="Calibri"/>
              </a:rPr>
              <a:t>минимальны</a:t>
            </a:r>
            <a:endParaRPr sz="2400" dirty="0">
              <a:latin typeface="Calibri"/>
              <a:cs typeface="Calibri"/>
            </a:endParaRPr>
          </a:p>
          <a:p>
            <a:pPr marL="16933" marR="112604"/>
            <a:r>
              <a:rPr sz="2400" dirty="0">
                <a:solidFill>
                  <a:srgbClr val="1E2739"/>
                </a:solidFill>
                <a:latin typeface="Calibri"/>
                <a:cs typeface="Calibri"/>
              </a:rPr>
              <a:t>—</a:t>
            </a:r>
            <a:r>
              <a:rPr sz="2400" spc="-80" dirty="0">
                <a:solidFill>
                  <a:srgbClr val="1E27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E2739"/>
                </a:solidFill>
                <a:latin typeface="Calibri"/>
                <a:cs typeface="Calibri"/>
              </a:rPr>
              <a:t>81%</a:t>
            </a:r>
            <a:r>
              <a:rPr sz="2400" spc="-73" dirty="0">
                <a:solidFill>
                  <a:srgbClr val="1E27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E2739"/>
                </a:solidFill>
                <a:latin typeface="Calibri"/>
                <a:cs typeface="Calibri"/>
              </a:rPr>
              <a:t>ответов</a:t>
            </a:r>
            <a:r>
              <a:rPr sz="2400" spc="-73" dirty="0">
                <a:solidFill>
                  <a:srgbClr val="1E27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E2739"/>
                </a:solidFill>
                <a:latin typeface="Calibri"/>
                <a:cs typeface="Calibri"/>
              </a:rPr>
              <a:t>не</a:t>
            </a:r>
            <a:r>
              <a:rPr sz="2400" spc="-107" dirty="0">
                <a:solidFill>
                  <a:srgbClr val="1E2739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/>
                <a:cs typeface="Calibri"/>
              </a:rPr>
              <a:t>содержат </a:t>
            </a:r>
            <a:r>
              <a:rPr sz="2400" dirty="0">
                <a:solidFill>
                  <a:srgbClr val="1E2739"/>
                </a:solidFill>
                <a:latin typeface="Calibri"/>
                <a:cs typeface="Calibri"/>
              </a:rPr>
              <a:t>выдуманных</a:t>
            </a:r>
            <a:r>
              <a:rPr sz="2400" spc="-67" dirty="0">
                <a:solidFill>
                  <a:srgbClr val="1E2739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/>
                <a:cs typeface="Calibri"/>
              </a:rPr>
              <a:t>фактов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2" name="object 33">
            <a:extLst>
              <a:ext uri="{FF2B5EF4-FFF2-40B4-BE49-F238E27FC236}">
                <a16:creationId xmlns:a16="http://schemas.microsoft.com/office/drawing/2014/main" id="{F6F18CA2-0B78-4440-D38F-05F24FDBE9F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4720" y="6085731"/>
            <a:ext cx="341376" cy="341376"/>
          </a:xfrm>
          <a:prstGeom prst="rect">
            <a:avLst/>
          </a:prstGeom>
        </p:spPr>
      </p:pic>
      <p:sp>
        <p:nvSpPr>
          <p:cNvPr id="33" name="object 34">
            <a:extLst>
              <a:ext uri="{FF2B5EF4-FFF2-40B4-BE49-F238E27FC236}">
                <a16:creationId xmlns:a16="http://schemas.microsoft.com/office/drawing/2014/main" id="{B432C92C-8D81-33DE-68FF-37CF8DF6833F}"/>
              </a:ext>
            </a:extLst>
          </p:cNvPr>
          <p:cNvSpPr txBox="1"/>
          <p:nvPr/>
        </p:nvSpPr>
        <p:spPr>
          <a:xfrm>
            <a:off x="8195902" y="6101571"/>
            <a:ext cx="3551598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solidFill>
                  <a:srgbClr val="1E2739"/>
                </a:solidFill>
                <a:latin typeface="Calibri"/>
                <a:cs typeface="Calibri"/>
              </a:rPr>
              <a:t>Точность</a:t>
            </a:r>
            <a:r>
              <a:rPr sz="2400" spc="-20" dirty="0">
                <a:solidFill>
                  <a:srgbClr val="1E2739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1E2739"/>
                </a:solidFill>
                <a:latin typeface="Calibri"/>
                <a:cs typeface="Calibri"/>
              </a:rPr>
              <a:t>пересказа</a:t>
            </a:r>
            <a:r>
              <a:rPr sz="2400" spc="-20" dirty="0">
                <a:solidFill>
                  <a:srgbClr val="1E2739"/>
                </a:solidFill>
                <a:latin typeface="Calibri"/>
                <a:cs typeface="Calibri"/>
              </a:rPr>
              <a:t> </a:t>
            </a:r>
            <a:r>
              <a:rPr sz="2400" spc="-33" dirty="0">
                <a:solidFill>
                  <a:srgbClr val="1E2739"/>
                </a:solidFill>
                <a:latin typeface="Calibri"/>
                <a:cs typeface="Calibri"/>
              </a:rPr>
              <a:t>78%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6" name="Номер слайда 35">
            <a:extLst>
              <a:ext uri="{FF2B5EF4-FFF2-40B4-BE49-F238E27FC236}">
                <a16:creationId xmlns:a16="http://schemas.microsoft.com/office/drawing/2014/main" id="{A1091A79-9637-4AA4-2633-55DBC41E9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007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4B6A-A4FB-5E90-ED52-DD1C6DD4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91E16-E6D7-4A19-FCAF-8D7A41B63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6050" y="44450"/>
            <a:ext cx="12211050" cy="1746251"/>
          </a:xfrm>
        </p:spPr>
        <p:txBody>
          <a:bodyPr>
            <a:noAutofit/>
          </a:bodyPr>
          <a:lstStyle/>
          <a:p>
            <a:r>
              <a:rPr lang="ru-RU" b="1" dirty="0"/>
              <a:t>Итоги работы</a:t>
            </a:r>
            <a:br>
              <a:rPr lang="ru-RU" b="1" dirty="0"/>
            </a:br>
            <a:endParaRPr lang="ru-RU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54ED4-7BC9-663E-CCCC-319EB8E8606E}"/>
              </a:ext>
            </a:extLst>
          </p:cNvPr>
          <p:cNvSpPr txBox="1"/>
          <p:nvPr/>
        </p:nvSpPr>
        <p:spPr>
          <a:xfrm>
            <a:off x="608012" y="1659434"/>
            <a:ext cx="9399587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Реализована микросервисная архитектура (6 сервисов)</a:t>
            </a:r>
          </a:p>
          <a:p>
            <a:pPr>
              <a:lnSpc>
                <a:spcPct val="150000"/>
              </a:lnSpc>
            </a:pPr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Встроенная FB2-читалка с сохранением позиции</a:t>
            </a:r>
          </a:p>
          <a:p>
            <a:pPr>
              <a:lnSpc>
                <a:spcPct val="150000"/>
              </a:lnSpc>
            </a:pPr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AI-ассистент с ответами по тексту</a:t>
            </a:r>
          </a:p>
          <a:p>
            <a:pPr>
              <a:lnSpc>
                <a:spcPct val="150000"/>
              </a:lnSpc>
            </a:pPr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Рекомендательная система </a:t>
            </a:r>
          </a:p>
          <a:p>
            <a:pPr>
              <a:lnSpc>
                <a:spcPct val="150000"/>
              </a:lnSpc>
            </a:pPr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4442E3-7E88-3624-52A8-009873DB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0A79C-2184-416A-91F7-4739A91750C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729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111B1-8B22-41A9-2FF7-5B547EA6E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6D9FA0-B5A6-5B9C-027C-B84BC37DD0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552163"/>
          </a:xfrm>
          <a:prstGeom prst="rect">
            <a:avLst/>
          </a:prstGeom>
        </p:spPr>
        <p:txBody>
          <a:bodyPr vert="horz" wrap="square" lIns="0" tIns="446857" rIns="0" bIns="0" rtlCol="0" anchor="ctr">
            <a:spAutoFit/>
          </a:bodyPr>
          <a:lstStyle/>
          <a:p>
            <a:pPr marL="8467" marR="3387" indent="-423" algn="ctr">
              <a:lnSpc>
                <a:spcPct val="115199"/>
              </a:lnSpc>
              <a:spcBef>
                <a:spcPts val="67"/>
              </a:spcBef>
            </a:pPr>
            <a:r>
              <a:rPr sz="2133" spc="140" dirty="0">
                <a:latin typeface="Trebuchet MS"/>
                <a:cs typeface="Trebuchet MS"/>
              </a:rPr>
              <a:t>МИНОБРНАУКИ</a:t>
            </a:r>
            <a:r>
              <a:rPr sz="2133" spc="-73" dirty="0">
                <a:latin typeface="Trebuchet MS"/>
                <a:cs typeface="Trebuchet MS"/>
              </a:rPr>
              <a:t> </a:t>
            </a:r>
            <a:r>
              <a:rPr sz="2133" spc="133" dirty="0">
                <a:latin typeface="Trebuchet MS"/>
                <a:cs typeface="Trebuchet MS"/>
              </a:rPr>
              <a:t>РОССИИ</a:t>
            </a:r>
            <a:r>
              <a:rPr sz="2133" spc="-73" dirty="0">
                <a:latin typeface="Trebuchet MS"/>
                <a:cs typeface="Trebuchet MS"/>
              </a:rPr>
              <a:t> </a:t>
            </a:r>
            <a:r>
              <a:rPr sz="2133" spc="80" dirty="0">
                <a:latin typeface="Trebuchet MS"/>
                <a:cs typeface="Trebuchet MS"/>
              </a:rPr>
              <a:t>ФЕДЕРАЛЬНОЕ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76" dirty="0">
                <a:latin typeface="Trebuchet MS"/>
                <a:cs typeface="Trebuchet MS"/>
              </a:rPr>
              <a:t>ГОСУДАРСТВЕННОЕ</a:t>
            </a:r>
            <a:r>
              <a:rPr sz="2133" spc="-73" dirty="0">
                <a:latin typeface="Trebuchet MS"/>
                <a:cs typeface="Trebuchet MS"/>
              </a:rPr>
              <a:t> </a:t>
            </a:r>
            <a:r>
              <a:rPr sz="2133" spc="53" dirty="0">
                <a:latin typeface="Trebuchet MS"/>
                <a:cs typeface="Trebuchet MS"/>
              </a:rPr>
              <a:t>БЮДЖЕТНОЕ </a:t>
            </a:r>
            <a:r>
              <a:rPr sz="2133" spc="97" dirty="0">
                <a:latin typeface="Trebuchet MS"/>
                <a:cs typeface="Trebuchet MS"/>
              </a:rPr>
              <a:t>ОБРАЗОВАТЕЛЬНОЕ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63" dirty="0">
                <a:latin typeface="Trebuchet MS"/>
                <a:cs typeface="Trebuchet MS"/>
              </a:rPr>
              <a:t>УЧРЕЖДЕНИЕ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127" dirty="0">
                <a:latin typeface="Trebuchet MS"/>
                <a:cs typeface="Trebuchet MS"/>
              </a:rPr>
              <a:t>ВЫСШЕГО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130" dirty="0">
                <a:latin typeface="Trebuchet MS"/>
                <a:cs typeface="Trebuchet MS"/>
              </a:rPr>
              <a:t>ОБРАЗОВАНИЯ</a:t>
            </a:r>
            <a:r>
              <a:rPr sz="2133" spc="-70" dirty="0">
                <a:latin typeface="Trebuchet MS"/>
                <a:cs typeface="Trebuchet MS"/>
              </a:rPr>
              <a:t> </a:t>
            </a:r>
            <a:r>
              <a:rPr sz="2133" spc="83" dirty="0">
                <a:latin typeface="Trebuchet MS"/>
                <a:cs typeface="Trebuchet MS"/>
              </a:rPr>
              <a:t>«ВОРОНЕЖСКИЙ ГОСУДАРСТВЕННЫЙ</a:t>
            </a:r>
            <a:r>
              <a:rPr sz="2133" spc="-76" dirty="0">
                <a:latin typeface="Trebuchet MS"/>
                <a:cs typeface="Trebuchet MS"/>
              </a:rPr>
              <a:t> </a:t>
            </a:r>
            <a:r>
              <a:rPr sz="2133" spc="50" dirty="0">
                <a:latin typeface="Trebuchet MS"/>
                <a:cs typeface="Trebuchet MS"/>
              </a:rPr>
              <a:t>УНИВЕРСИТЕТ»</a:t>
            </a:r>
            <a:r>
              <a:rPr sz="2133" spc="-80" dirty="0">
                <a:latin typeface="Trebuchet MS"/>
                <a:cs typeface="Trebuchet MS"/>
              </a:rPr>
              <a:t> </a:t>
            </a:r>
            <a:r>
              <a:rPr sz="2133" spc="57" dirty="0">
                <a:latin typeface="Trebuchet MS"/>
                <a:cs typeface="Trebuchet MS"/>
              </a:rPr>
              <a:t>(ФГБОУ</a:t>
            </a:r>
            <a:r>
              <a:rPr sz="2133" spc="-76" dirty="0">
                <a:latin typeface="Trebuchet MS"/>
                <a:cs typeface="Trebuchet MS"/>
              </a:rPr>
              <a:t> </a:t>
            </a:r>
            <a:r>
              <a:rPr sz="2133" spc="190" dirty="0">
                <a:latin typeface="Trebuchet MS"/>
                <a:cs typeface="Trebuchet MS"/>
              </a:rPr>
              <a:t>ВО</a:t>
            </a:r>
            <a:r>
              <a:rPr sz="2133" spc="-76" dirty="0">
                <a:latin typeface="Trebuchet MS"/>
                <a:cs typeface="Trebuchet MS"/>
              </a:rPr>
              <a:t> </a:t>
            </a:r>
            <a:r>
              <a:rPr sz="2133" spc="-7" dirty="0">
                <a:latin typeface="Trebuchet MS"/>
                <a:cs typeface="Trebuchet MS"/>
              </a:rPr>
              <a:t>«ВГУ»)</a:t>
            </a:r>
            <a:endParaRPr sz="2133" dirty="0">
              <a:latin typeface="Trebuchet MS"/>
              <a:cs typeface="Trebuchet M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519FAE-A53E-2E67-8E8C-B048D4F8BF1F}"/>
              </a:ext>
            </a:extLst>
          </p:cNvPr>
          <p:cNvSpPr txBox="1"/>
          <p:nvPr/>
        </p:nvSpPr>
        <p:spPr>
          <a:xfrm>
            <a:off x="1821025" y="1850602"/>
            <a:ext cx="9624060" cy="3790995"/>
          </a:xfrm>
          <a:prstGeom prst="rect">
            <a:avLst/>
          </a:prstGeom>
        </p:spPr>
        <p:txBody>
          <a:bodyPr vert="horz" wrap="square" lIns="0" tIns="54187" rIns="0" bIns="0" rtlCol="0">
            <a:spAutoFit/>
          </a:bodyPr>
          <a:lstStyle/>
          <a:p>
            <a:pPr marR="1270064" algn="ctr">
              <a:spcBef>
                <a:spcPts val="427"/>
              </a:spcBef>
            </a:pPr>
            <a:r>
              <a:rPr sz="1867" spc="43" dirty="0">
                <a:latin typeface="Trebuchet MS"/>
                <a:cs typeface="Trebuchet MS"/>
              </a:rPr>
              <a:t>Факультет</a:t>
            </a:r>
            <a:r>
              <a:rPr sz="1867" spc="-67" dirty="0">
                <a:latin typeface="Trebuchet MS"/>
                <a:cs typeface="Trebuchet MS"/>
              </a:rPr>
              <a:t> </a:t>
            </a:r>
            <a:r>
              <a:rPr sz="1867" spc="90" dirty="0">
                <a:latin typeface="Trebuchet MS"/>
                <a:cs typeface="Trebuchet MS"/>
              </a:rPr>
              <a:t>компьютерных</a:t>
            </a:r>
            <a:r>
              <a:rPr sz="1867" spc="-67" dirty="0">
                <a:latin typeface="Trebuchet MS"/>
                <a:cs typeface="Trebuchet MS"/>
              </a:rPr>
              <a:t> </a:t>
            </a:r>
            <a:r>
              <a:rPr sz="1867" spc="37" dirty="0">
                <a:latin typeface="Trebuchet MS"/>
                <a:cs typeface="Trebuchet MS"/>
              </a:rPr>
              <a:t>наук</a:t>
            </a:r>
            <a:endParaRPr sz="1867" dirty="0">
              <a:latin typeface="Trebuchet MS"/>
              <a:cs typeface="Trebuchet MS"/>
            </a:endParaRPr>
          </a:p>
          <a:p>
            <a:pPr marR="1208253" algn="ctr">
              <a:spcBef>
                <a:spcPts val="360"/>
              </a:spcBef>
            </a:pPr>
            <a:r>
              <a:rPr sz="1867" dirty="0">
                <a:latin typeface="Trebuchet MS"/>
                <a:cs typeface="Trebuchet MS"/>
              </a:rPr>
              <a:t>Кафедра</a:t>
            </a:r>
            <a:r>
              <a:rPr sz="1867" spc="-43" dirty="0">
                <a:latin typeface="Trebuchet MS"/>
                <a:cs typeface="Trebuchet MS"/>
              </a:rPr>
              <a:t> </a:t>
            </a:r>
            <a:r>
              <a:rPr sz="1867" spc="87" dirty="0">
                <a:latin typeface="Trebuchet MS"/>
                <a:cs typeface="Trebuchet MS"/>
              </a:rPr>
              <a:t>программирования</a:t>
            </a:r>
            <a:r>
              <a:rPr sz="1867" spc="-43" dirty="0">
                <a:latin typeface="Trebuchet MS"/>
                <a:cs typeface="Trebuchet MS"/>
              </a:rPr>
              <a:t> </a:t>
            </a:r>
            <a:r>
              <a:rPr sz="1867" spc="107" dirty="0">
                <a:latin typeface="Trebuchet MS"/>
                <a:cs typeface="Trebuchet MS"/>
              </a:rPr>
              <a:t>и</a:t>
            </a:r>
            <a:r>
              <a:rPr sz="1867" spc="-40" dirty="0">
                <a:latin typeface="Trebuchet MS"/>
                <a:cs typeface="Trebuchet MS"/>
              </a:rPr>
              <a:t> </a:t>
            </a:r>
            <a:r>
              <a:rPr sz="1867" spc="90" dirty="0">
                <a:latin typeface="Trebuchet MS"/>
                <a:cs typeface="Trebuchet MS"/>
              </a:rPr>
              <a:t>информационных</a:t>
            </a:r>
            <a:r>
              <a:rPr sz="1867" spc="-43" dirty="0">
                <a:latin typeface="Trebuchet MS"/>
                <a:cs typeface="Trebuchet MS"/>
              </a:rPr>
              <a:t> </a:t>
            </a:r>
            <a:r>
              <a:rPr sz="1867" spc="53" dirty="0">
                <a:latin typeface="Trebuchet MS"/>
                <a:cs typeface="Trebuchet MS"/>
              </a:rPr>
              <a:t>технологий</a:t>
            </a:r>
            <a:endParaRPr sz="1867" dirty="0">
              <a:latin typeface="Trebuchet MS"/>
              <a:cs typeface="Trebuchet MS"/>
            </a:endParaRPr>
          </a:p>
          <a:p>
            <a:pPr>
              <a:spcBef>
                <a:spcPts val="1390"/>
              </a:spcBef>
            </a:pPr>
            <a:endParaRPr lang="ru-RU" sz="1867" dirty="0">
              <a:latin typeface="Trebuchet MS"/>
              <a:cs typeface="Trebuchet MS"/>
            </a:endParaRPr>
          </a:p>
          <a:p>
            <a:pPr algn="ctr">
              <a:spcBef>
                <a:spcPts val="607"/>
              </a:spcBef>
            </a:pP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Разработка</a:t>
            </a:r>
            <a:r>
              <a:rPr lang="ru-RU" sz="2800" b="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микросервисной</a:t>
            </a:r>
            <a:r>
              <a:rPr lang="ru-RU" sz="2800" b="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платформы</a:t>
            </a:r>
            <a:r>
              <a:rPr lang="ru-RU" sz="2800" b="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spc="-10" dirty="0">
                <a:solidFill>
                  <a:srgbClr val="000000"/>
                </a:solidFill>
                <a:latin typeface="Calibri"/>
                <a:cs typeface="Calibri"/>
              </a:rPr>
              <a:t>цифровой </a:t>
            </a: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библиотеки</a:t>
            </a:r>
            <a:r>
              <a:rPr lang="ru-RU" sz="28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dirty="0">
                <a:solidFill>
                  <a:srgbClr val="000000"/>
                </a:solidFill>
                <a:latin typeface="Calibri"/>
                <a:cs typeface="Calibri"/>
              </a:rPr>
              <a:t>с</a:t>
            </a:r>
            <a:r>
              <a:rPr lang="ru-RU" sz="2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ru-RU" sz="2800" b="0" spc="-25" dirty="0">
                <a:solidFill>
                  <a:srgbClr val="000000"/>
                </a:solidFill>
                <a:latin typeface="Calibri"/>
                <a:cs typeface="Calibri"/>
              </a:rPr>
              <a:t>ИИ-</a:t>
            </a:r>
            <a:r>
              <a:rPr lang="ru-RU" sz="2800" b="0" spc="-10" dirty="0">
                <a:solidFill>
                  <a:srgbClr val="000000"/>
                </a:solidFill>
                <a:latin typeface="Calibri"/>
                <a:cs typeface="Calibri"/>
              </a:rPr>
              <a:t>ассистентом</a:t>
            </a:r>
          </a:p>
          <a:p>
            <a:pPr algn="ctr">
              <a:spcBef>
                <a:spcPts val="607"/>
              </a:spcBef>
            </a:pPr>
            <a:endParaRPr lang="ru-RU" sz="2800" dirty="0">
              <a:latin typeface="Trebuchet MS"/>
              <a:cs typeface="Trebuchet MS"/>
            </a:endParaRPr>
          </a:p>
          <a:p>
            <a:pPr algn="ctr">
              <a:spcBef>
                <a:spcPts val="607"/>
              </a:spcBef>
            </a:pPr>
            <a:endParaRPr sz="2800" dirty="0">
              <a:latin typeface="Trebuchet MS"/>
              <a:cs typeface="Trebuchet MS"/>
            </a:endParaRPr>
          </a:p>
          <a:p>
            <a:pPr marL="5034108" marR="3387">
              <a:lnSpc>
                <a:spcPct val="116700"/>
              </a:lnSpc>
            </a:pPr>
            <a:r>
              <a:rPr sz="2000" spc="113" dirty="0">
                <a:latin typeface="Trebuchet MS"/>
                <a:cs typeface="Trebuchet MS"/>
              </a:rPr>
              <a:t>Научный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40" dirty="0">
                <a:latin typeface="Trebuchet MS"/>
                <a:cs typeface="Trebuchet MS"/>
              </a:rPr>
              <a:t>руководитель:</a:t>
            </a:r>
            <a:r>
              <a:rPr sz="2000" spc="-67" dirty="0">
                <a:latin typeface="Trebuchet MS"/>
                <a:cs typeface="Trebuchet MS"/>
              </a:rPr>
              <a:t> </a:t>
            </a:r>
            <a:r>
              <a:rPr lang="ru-RU" sz="2000" spc="100" dirty="0">
                <a:latin typeface="Trebuchet MS"/>
                <a:cs typeface="Trebuchet MS"/>
              </a:rPr>
              <a:t>Ушаков</a:t>
            </a:r>
            <a:r>
              <a:rPr lang="ru-RU" sz="2000" spc="-70" dirty="0">
                <a:latin typeface="Trebuchet MS"/>
                <a:cs typeface="Trebuchet MS"/>
              </a:rPr>
              <a:t> </a:t>
            </a:r>
            <a:r>
              <a:rPr lang="ru-RU" sz="2000" spc="-13" dirty="0">
                <a:latin typeface="Trebuchet MS"/>
                <a:cs typeface="Trebuchet MS"/>
              </a:rPr>
              <a:t>В.А. </a:t>
            </a:r>
            <a:r>
              <a:rPr sz="2000" spc="73" dirty="0" err="1">
                <a:latin typeface="Trebuchet MS"/>
                <a:cs typeface="Trebuchet MS"/>
              </a:rPr>
              <a:t>Выполнил</a:t>
            </a:r>
            <a:r>
              <a:rPr lang="ru-RU" sz="2000" spc="73" dirty="0">
                <a:latin typeface="Trebuchet MS"/>
                <a:cs typeface="Trebuchet MS"/>
              </a:rPr>
              <a:t>:Скибин П.С.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822065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451</Words>
  <Application>Microsoft Office PowerPoint</Application>
  <PresentationFormat>Широкоэкранный</PresentationFormat>
  <Paragraphs>153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Arial Black</vt:lpstr>
      <vt:lpstr>Calibri</vt:lpstr>
      <vt:lpstr>Segoe UI Symbol</vt:lpstr>
      <vt:lpstr>Trebuchet MS</vt:lpstr>
      <vt:lpstr>Тема Office</vt:lpstr>
      <vt:lpstr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</vt:lpstr>
      <vt:lpstr>Актуальность </vt:lpstr>
      <vt:lpstr>Цель работы </vt:lpstr>
      <vt:lpstr>Обзор аналогов </vt:lpstr>
      <vt:lpstr>Микросервисная архитектура </vt:lpstr>
      <vt:lpstr>ER диаграмма БД </vt:lpstr>
      <vt:lpstr>Интеллектуальный контур (RAG) </vt:lpstr>
      <vt:lpstr>Рекомендательная система </vt:lpstr>
      <vt:lpstr>Реализация интерфейса </vt:lpstr>
      <vt:lpstr>Реализация интерфейса </vt:lpstr>
      <vt:lpstr>Реализация интерфейса </vt:lpstr>
      <vt:lpstr>Нагрузочное тестирование </vt:lpstr>
      <vt:lpstr>Качество AI-ответов</vt:lpstr>
      <vt:lpstr>Итоги работы </vt:lpstr>
      <vt:lpstr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2026-06-03T13:49:48Z</dcterms:created>
  <dcterms:modified xsi:type="dcterms:W3CDTF">2026-06-03T15:31:26Z</dcterms:modified>
</cp:coreProperties>
</file>